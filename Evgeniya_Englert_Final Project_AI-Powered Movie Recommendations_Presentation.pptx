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0"/>
  </p:notesMasterIdLst>
  <p:sldIdLst>
    <p:sldId id="257" r:id="rId3"/>
    <p:sldId id="256" r:id="rId4"/>
    <p:sldId id="259" r:id="rId5"/>
    <p:sldId id="260" r:id="rId6"/>
    <p:sldId id="2087" r:id="rId7"/>
    <p:sldId id="2091" r:id="rId8"/>
    <p:sldId id="2095" r:id="rId9"/>
    <p:sldId id="2096" r:id="rId10"/>
    <p:sldId id="2097" r:id="rId11"/>
    <p:sldId id="2088" r:id="rId12"/>
    <p:sldId id="2098" r:id="rId13"/>
    <p:sldId id="261" r:id="rId14"/>
    <p:sldId id="263" r:id="rId15"/>
    <p:sldId id="2086" r:id="rId16"/>
    <p:sldId id="265" r:id="rId17"/>
    <p:sldId id="2099" r:id="rId18"/>
    <p:sldId id="2092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A52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267BE7-67BB-440A-A7F6-C63E1F9B8393}" v="53" dt="2025-06-28T19:17:45.883"/>
    <p1510:client id="{7B6C7F8A-8DDA-45BD-989F-F276AB39D4B3}" v="1" dt="2025-06-28T08:51:2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313" autoAdjust="0"/>
  </p:normalViewPr>
  <p:slideViewPr>
    <p:cSldViewPr snapToGrid="0">
      <p:cViewPr varScale="1">
        <p:scale>
          <a:sx n="131" d="100"/>
          <a:sy n="131" d="100"/>
        </p:scale>
        <p:origin x="84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DD4A4-76B0-4E7C-B659-8E9B93B9327A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0077C-762F-423B-98C6-FA9F2D3C9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079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🎥 “What Should I Watch Next?”</a:t>
            </a:r>
            <a:br>
              <a:rPr lang="en-US" dirty="0"/>
            </a:br>
            <a:r>
              <a:rPr lang="en-US" b="1" dirty="0"/>
              <a:t>Building an AI System That Knows Your Taste</a:t>
            </a:r>
          </a:p>
          <a:p>
            <a:endParaRPr lang="en-US" b="1" dirty="0"/>
          </a:p>
          <a:p>
            <a:r>
              <a:rPr lang="en-US" b="1" dirty="0"/>
              <a:t>Hook:</a:t>
            </a:r>
            <a:endParaRPr lang="en-US" dirty="0"/>
          </a:p>
          <a:p>
            <a:r>
              <a:rPr lang="en-US" dirty="0"/>
              <a:t>Every click, rating, and watch tells a story — this project turns that story into personalized recommendations.</a:t>
            </a:r>
          </a:p>
          <a:p>
            <a:r>
              <a:rPr lang="en-US" b="1" dirty="0"/>
              <a:t>Slide 1: The Business Case</a:t>
            </a:r>
          </a:p>
          <a:p>
            <a:r>
              <a:rPr lang="en-US" b="1" dirty="0"/>
              <a:t>Time:</a:t>
            </a:r>
            <a:r>
              <a:rPr lang="en-US" dirty="0"/>
              <a:t> ~40 Seconds</a:t>
            </a:r>
          </a:p>
          <a:p>
            <a:r>
              <a:rPr lang="en-US" b="1" dirty="0"/>
              <a:t>Vibe:</a:t>
            </a:r>
            <a:r>
              <a:rPr lang="en-US" dirty="0"/>
              <a:t> Strategic &amp; Result-Oriented</a:t>
            </a:r>
          </a:p>
          <a:p>
            <a:r>
              <a:rPr lang="en-US" b="1" dirty="0"/>
              <a:t>The Problem (0:00-0:10):</a:t>
            </a:r>
            <a:r>
              <a:rPr lang="en-US" dirty="0"/>
              <a:t> "In the streaming world, content is infinite, but user attention is a scarce resource. When users can't find what they love instantly, they churn. That’s a direct hit to revenue."</a:t>
            </a:r>
          </a:p>
          <a:p>
            <a:r>
              <a:rPr lang="en-US" b="1" dirty="0"/>
              <a:t>The Solution (0:10-0:25):</a:t>
            </a:r>
            <a:r>
              <a:rPr lang="en-US" dirty="0"/>
              <a:t> "Our </a:t>
            </a:r>
            <a:r>
              <a:rPr lang="en-US" b="1" dirty="0"/>
              <a:t>AI-Powered Recommendation System</a:t>
            </a:r>
            <a:r>
              <a:rPr lang="en-US" dirty="0"/>
              <a:t> isn't just a technical exercise; it’s a retention engine. By optimizing </a:t>
            </a:r>
            <a:r>
              <a:rPr lang="en-US" b="1" dirty="0"/>
              <a:t>collaborative filtering</a:t>
            </a:r>
            <a:r>
              <a:rPr lang="en-US" dirty="0"/>
              <a:t>, we drive longer sessions and higher conversion rates—turning passive browsers into loyal subscribers."</a:t>
            </a:r>
          </a:p>
          <a:p>
            <a:r>
              <a:rPr lang="en-US" b="1" dirty="0"/>
              <a:t>The Edge (0:25-0:40):</a:t>
            </a:r>
            <a:r>
              <a:rPr lang="en-US" dirty="0"/>
              <a:t> "We’ve also integrated an </a:t>
            </a:r>
            <a:r>
              <a:rPr lang="en-US" b="1" dirty="0"/>
              <a:t>LLM</a:t>
            </a:r>
            <a:r>
              <a:rPr lang="en-US" dirty="0"/>
              <a:t> to solve the 'cold algorithm' problem. Instead of robotic lists, we deliver personalized messages that make users feel valued. It’s strategic differentiation that moves the needle from 'just another app' to a premium user experience."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Key Phrases to Punch:</a:t>
            </a:r>
          </a:p>
          <a:p>
            <a:r>
              <a:rPr lang="en-US" b="1" dirty="0"/>
              <a:t>"Retention engine":</a:t>
            </a:r>
            <a:r>
              <a:rPr lang="en-US" dirty="0"/>
              <a:t> Use this to frame the tech as a money-maker.</a:t>
            </a:r>
          </a:p>
          <a:p>
            <a:r>
              <a:rPr lang="en-US" b="1" dirty="0"/>
              <a:t>"Cold algorithm":</a:t>
            </a:r>
            <a:r>
              <a:rPr lang="en-US" dirty="0"/>
              <a:t> Use this to highlight why the LLM is necessary for a "human" feel.</a:t>
            </a:r>
          </a:p>
          <a:p>
            <a:endParaRPr lang="en-US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4972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🎯 Project Objectives</a:t>
            </a:r>
          </a:p>
          <a:p>
            <a:r>
              <a:rPr lang="en-US" b="1" dirty="0"/>
              <a:t>Develop a High-Performance Movie Recommendation Engine</a:t>
            </a:r>
            <a:br>
              <a:rPr lang="en-US" dirty="0"/>
            </a:br>
            <a:r>
              <a:rPr lang="en-US" dirty="0"/>
              <a:t>Design and evaluate multiple collaborative filtering approaches to identify the most accurate and computationally efficient model for personalized movie recommendations.</a:t>
            </a:r>
          </a:p>
          <a:p>
            <a:endParaRPr lang="en-US" dirty="0"/>
          </a:p>
          <a:p>
            <a:r>
              <a:rPr lang="en-US" b="1" dirty="0"/>
              <a:t>Enhance Personalization and User Engagement</a:t>
            </a:r>
            <a:br>
              <a:rPr lang="en-US" dirty="0"/>
            </a:br>
            <a:r>
              <a:rPr lang="en-US" dirty="0"/>
              <a:t>Integrate a Large Language Model (LLM) to transform recommendation outputs into natural, personalized messages that improve user satisfaction and trust.</a:t>
            </a:r>
          </a:p>
          <a:p>
            <a:endParaRPr lang="en-US" dirty="0"/>
          </a:p>
          <a:p>
            <a:r>
              <a:rPr lang="en-US" b="1" dirty="0"/>
              <a:t>Deliver a Scalable End-to-End Recommendation Pipeline</a:t>
            </a:r>
            <a:br>
              <a:rPr lang="en-US" dirty="0"/>
            </a:br>
            <a:r>
              <a:rPr lang="en-US" dirty="0"/>
              <a:t>Build a complete data science workflow—from raw data ingestion to API-based recommendation delivery—using industry-standard evaluation metrics and deployment practices.</a:t>
            </a:r>
          </a:p>
          <a:p>
            <a:endParaRPr lang="en-US" dirty="0"/>
          </a:p>
          <a:p>
            <a:r>
              <a:rPr lang="en-US" b="1" dirty="0"/>
              <a:t>Message:</a:t>
            </a:r>
            <a:endParaRPr lang="en-US" dirty="0"/>
          </a:p>
          <a:p>
            <a:r>
              <a:rPr lang="en-US" dirty="0"/>
              <a:t>This is not just a model — it’s a production-ready ML pipeline.</a:t>
            </a:r>
          </a:p>
          <a:p>
            <a:endParaRPr lang="en-US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4623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Business Problem—Engagement Needs Empathy</a:t>
            </a:r>
          </a:p>
          <a:p>
            <a:r>
              <a:rPr lang="en-US" b="1" dirty="0"/>
              <a:t>Time:</a:t>
            </a:r>
            <a:r>
              <a:rPr lang="en-US" dirty="0"/>
              <a:t> 30 Seconds</a:t>
            </a:r>
          </a:p>
          <a:p>
            <a:r>
              <a:rPr lang="en-US" b="1" dirty="0"/>
              <a:t>Vibe:</a:t>
            </a:r>
            <a:r>
              <a:rPr lang="en-US" dirty="0"/>
              <a:t> Persuasive &amp; Human-Centric</a:t>
            </a:r>
          </a:p>
          <a:p>
            <a:r>
              <a:rPr lang="en-US" b="1" dirty="0"/>
              <a:t>The Problem (0:00-0:10):</a:t>
            </a:r>
            <a:r>
              <a:rPr lang="en-US" dirty="0"/>
              <a:t> "Streaming platforms are great at processing data, but they’re failing at the human element. When recommendations feel like a generic list from a robot, users disengage."</a:t>
            </a:r>
          </a:p>
          <a:p>
            <a:r>
              <a:rPr lang="en-US" b="1" dirty="0"/>
              <a:t>The Shift (0:10-0:20):</a:t>
            </a:r>
            <a:r>
              <a:rPr lang="en-US" dirty="0"/>
              <a:t> "The challenge isn't just </a:t>
            </a:r>
            <a:r>
              <a:rPr lang="en-US" i="1" dirty="0"/>
              <a:t>what</a:t>
            </a:r>
            <a:r>
              <a:rPr lang="en-US" dirty="0"/>
              <a:t> to recommend—it’s </a:t>
            </a:r>
            <a:r>
              <a:rPr lang="en-US" i="1" dirty="0"/>
              <a:t>how</a:t>
            </a:r>
            <a:r>
              <a:rPr lang="en-US" dirty="0"/>
              <a:t> we communicate it. We are moving beyond cold math to deliver recommendations with </a:t>
            </a:r>
            <a:r>
              <a:rPr lang="en-US" b="1" dirty="0"/>
              <a:t>empathy</a:t>
            </a:r>
            <a:r>
              <a:rPr lang="en-US" dirty="0"/>
              <a:t>."</a:t>
            </a:r>
          </a:p>
          <a:p>
            <a:r>
              <a:rPr lang="en-US" b="1" dirty="0"/>
              <a:t>The Payoff (0:20-0:30):</a:t>
            </a:r>
            <a:r>
              <a:rPr lang="en-US" dirty="0"/>
              <a:t> "By using an LLM to personalize the 'why' behind a movie, we build emotional connection and trust. This isn't just a better UX; it’s a strategy to drive longer sessions and turn users into loyal fans."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4532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ML Task Chosen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Personalized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Movie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Recommendation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it’s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powerful: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impact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world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complexity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Perfect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fit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collaborative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filtering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0152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FD8181-EE4B-40D1-940C-50026863C6AB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449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Data Foundation (0:00-0:10):</a:t>
            </a:r>
            <a:r>
              <a:rPr lang="en-US" dirty="0"/>
              <a:t> "Our pipeline begins with the </a:t>
            </a:r>
            <a:r>
              <a:rPr lang="en-US" b="1" dirty="0" err="1"/>
              <a:t>MovieLens</a:t>
            </a:r>
            <a:r>
              <a:rPr lang="en-US" b="1" dirty="0"/>
              <a:t> 1M dataset</a:t>
            </a:r>
            <a:r>
              <a:rPr lang="en-US" dirty="0"/>
              <a:t>. </a:t>
            </a:r>
          </a:p>
          <a:p>
            <a:r>
              <a:rPr lang="en-US" dirty="0"/>
              <a:t>We process over a million ratings into a </a:t>
            </a:r>
            <a:r>
              <a:rPr lang="en-US" b="1" dirty="0"/>
              <a:t>User-Item Matrix</a:t>
            </a:r>
            <a:r>
              <a:rPr lang="en-US" dirty="0"/>
              <a:t> to identify patterns in how 6,000+ users interact with nearly 4,000 films.“</a:t>
            </a:r>
          </a:p>
          <a:p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Industry benchmark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Large-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realistic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collaborative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filtering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2000" b="1" kern="1200" dirty="0">
              <a:solidFill>
                <a:srgbClr val="DCA523"/>
              </a:solidFill>
              <a:latin typeface="Raleway" pitchFamily="2" charset="0"/>
              <a:ea typeface="+mn-ea"/>
              <a:cs typeface="+mn-cs"/>
            </a:endParaRPr>
          </a:p>
          <a:p>
            <a:endParaRPr lang="en-US" b="1" dirty="0"/>
          </a:p>
          <a:p>
            <a:r>
              <a:rPr lang="en-US" b="1" dirty="0"/>
              <a:t>The Engine (0:10-0:25):</a:t>
            </a:r>
            <a:r>
              <a:rPr lang="en-US" dirty="0"/>
              <a:t> "After testing six different approaches, focusing on </a:t>
            </a:r>
            <a:r>
              <a:rPr lang="en-US" sz="2000" b="1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accuracy, speed, scalability, </a:t>
            </a:r>
            <a:r>
              <a:rPr lang="en-US" dirty="0"/>
              <a:t>we selected </a:t>
            </a:r>
            <a:r>
              <a:rPr lang="en-US" b="1" dirty="0"/>
              <a:t>User-Based Collaborative Filtering with Cosine Similarity</a:t>
            </a:r>
            <a:r>
              <a:rPr lang="en-US" dirty="0"/>
              <a:t>. </a:t>
            </a:r>
          </a:p>
          <a:p>
            <a:r>
              <a:rPr lang="en-US" dirty="0"/>
              <a:t>It was the clear winner, delivering a </a:t>
            </a:r>
            <a:r>
              <a:rPr lang="en-US" b="1" dirty="0"/>
              <a:t>Recall@10 of 0.8358</a:t>
            </a:r>
            <a:r>
              <a:rPr lang="en-US" dirty="0"/>
              <a:t> and an </a:t>
            </a:r>
            <a:r>
              <a:rPr lang="en-US" b="1" dirty="0"/>
              <a:t>F1-Score of 0.3414</a:t>
            </a:r>
            <a:r>
              <a:rPr lang="en-US" dirty="0"/>
              <a:t>. Most importantly, it's fast—processing folds in just 27 seconds."</a:t>
            </a:r>
          </a:p>
          <a:p>
            <a:endParaRPr lang="en-US" b="1" dirty="0"/>
          </a:p>
          <a:p>
            <a:r>
              <a:rPr lang="en-US" b="1" dirty="0"/>
              <a:t>The Empathy Layer (0:25-0:40):</a:t>
            </a:r>
            <a:r>
              <a:rPr lang="en-US" dirty="0"/>
              <a:t> "We then pass these results to the </a:t>
            </a:r>
            <a:r>
              <a:rPr lang="en-US" b="1" dirty="0"/>
              <a:t>Ollama API</a:t>
            </a:r>
            <a:r>
              <a:rPr lang="en-US" dirty="0"/>
              <a:t>, where a pre-trained </a:t>
            </a:r>
            <a:r>
              <a:rPr lang="en-US" b="1" dirty="0"/>
              <a:t>LLM</a:t>
            </a:r>
            <a:r>
              <a:rPr lang="en-US" dirty="0"/>
              <a:t> acts as our personalization layer. It fuses the movie titles with user demographics to write a friendly, 2-3 sentence message. This turns a standard list into a conversation."</a:t>
            </a:r>
          </a:p>
          <a:p>
            <a:endParaRPr lang="en-US" b="1" dirty="0"/>
          </a:p>
          <a:p>
            <a:r>
              <a:rPr lang="en-US" b="1" dirty="0"/>
              <a:t>Final Delivery (0:40-0:45):</a:t>
            </a:r>
            <a:r>
              <a:rPr lang="en-US" dirty="0"/>
              <a:t> "The entire process is served via </a:t>
            </a:r>
            <a:r>
              <a:rPr lang="en-US" b="1" dirty="0" err="1"/>
              <a:t>FastAPI</a:t>
            </a:r>
            <a:r>
              <a:rPr lang="en-US" dirty="0"/>
              <a:t>, ensuring a low-latency, end-to-end user experience."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8374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D5123-9562-8D30-BB95-AAF5E681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50C1D7D-578D-98FB-A9C9-C8D621F2A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75CD680-4E08-C579-DC7B-F1C87DBF8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I evaluated 6 CF approaches using 5-fold cross-validation and the metrics: </a:t>
            </a:r>
          </a:p>
          <a:p>
            <a:r>
              <a:rPr lang="en-US" sz="1200" b="0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Metric </a:t>
            </a:r>
          </a:p>
          <a:p>
            <a:r>
              <a:rPr lang="en-US" sz="1200" b="0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Description </a:t>
            </a:r>
          </a:p>
          <a:p>
            <a:r>
              <a:rPr lang="en-US" sz="1200" b="0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Goal</a:t>
            </a:r>
          </a:p>
          <a:p>
            <a:r>
              <a:rPr lang="en-US" sz="1200" b="0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Precision@10</a:t>
            </a:r>
          </a:p>
          <a:p>
            <a:r>
              <a:rPr lang="en-US" sz="1200" b="0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• Predictive accuracy: Proportion of top-10 recommended movies that are relevant</a:t>
            </a:r>
          </a:p>
          <a:p>
            <a:r>
              <a:rPr lang="en-US" sz="1200" b="0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• Minimize not relevant recommendations</a:t>
            </a:r>
          </a:p>
          <a:p>
            <a:r>
              <a:rPr lang="en-US" sz="1200" b="0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Recall@10</a:t>
            </a:r>
          </a:p>
          <a:p>
            <a:r>
              <a:rPr lang="en-US" sz="1200" b="0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• Sensitivity: Proportion of relevant movies retrieved in top-10 recommendations</a:t>
            </a:r>
          </a:p>
          <a:p>
            <a:r>
              <a:rPr lang="en-US" sz="1200" b="0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• Maximize coverage of user interests</a:t>
            </a:r>
          </a:p>
          <a:p>
            <a:r>
              <a:rPr lang="en-US" sz="1200" b="0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F1-Score@10</a:t>
            </a:r>
          </a:p>
          <a:p>
            <a:r>
              <a:rPr lang="en-US" sz="1200" b="0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• Harmonic mean of Precision@10 and Recall@10</a:t>
            </a:r>
          </a:p>
          <a:p>
            <a:r>
              <a:rPr lang="en-US" sz="1200" b="0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• Quantify the harmonic trade-off between predictive precision and retrieval sensitivity.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5B0E26-B873-D6FC-3AAB-5A96B6925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2929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33A6-7B15-364B-9893-8DF3A059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1345A49-4DAC-7EAF-8E01-1657962D6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09CDDF4-6C9C-34BE-0A7D-E3AD4C778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(0:00-0:10):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"We didn't just pick a model—we ran a 'bake-off' to see which algorithm actually met our business needs for speed and accuracy.“</a:t>
            </a: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Evaluation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Metrics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Precision@10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Are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recommendations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relevant?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Recall@10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Are we finding enough good movies?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F1@10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Balanced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5-Fold Cross-Validation for robustness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Result (0:10-0:25):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"The results were stark. While most models struggled to break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6%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accuracy or took hours to run, 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User-Based Cosine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achieved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34% F1-Score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wasn't just the most accurate; it was also the most efficient, processing data in seconds."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Bottom Line (0:25-0:30):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"This model gives us the high-quality, real-time suggestions our users expect.“</a:t>
            </a: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takeaway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best production model is the smartest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fastest: best F1, strong recall, practical execution time.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E16AA8-7F08-2DD2-B97B-E58AA2DE3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230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852EC-E466-8A29-B937-154A9CCC8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55F68D7-A931-84FB-D9DC-DCE7FC896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6F14B64-134D-CF4F-3FD5-951A84D0A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Data Foundation (0:00-0:10):</a:t>
            </a:r>
            <a:r>
              <a:rPr lang="en-US" dirty="0"/>
              <a:t> "Our pipeline begins with the </a:t>
            </a:r>
            <a:r>
              <a:rPr lang="en-US" b="1" dirty="0" err="1"/>
              <a:t>MovieLens</a:t>
            </a:r>
            <a:r>
              <a:rPr lang="en-US" b="1" dirty="0"/>
              <a:t> 1M dataset</a:t>
            </a:r>
            <a:r>
              <a:rPr lang="en-US" dirty="0"/>
              <a:t>. </a:t>
            </a:r>
          </a:p>
          <a:p>
            <a:r>
              <a:rPr lang="en-US" dirty="0"/>
              <a:t>We process over a million ratings into a </a:t>
            </a:r>
            <a:r>
              <a:rPr lang="en-US" b="1" dirty="0"/>
              <a:t>User-Item Matrix</a:t>
            </a:r>
            <a:r>
              <a:rPr lang="en-US" dirty="0"/>
              <a:t> to identify patterns in how 6,000+ users interact with nearly 4,000 films.“</a:t>
            </a:r>
          </a:p>
          <a:p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Industry benchmark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Large-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realistic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collaborative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filtering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2000" b="1" kern="1200" dirty="0">
              <a:solidFill>
                <a:srgbClr val="DCA523"/>
              </a:solidFill>
              <a:latin typeface="Raleway" pitchFamily="2" charset="0"/>
              <a:ea typeface="+mn-ea"/>
              <a:cs typeface="+mn-cs"/>
            </a:endParaRPr>
          </a:p>
          <a:p>
            <a:endParaRPr lang="en-US" b="1" dirty="0"/>
          </a:p>
          <a:p>
            <a:r>
              <a:rPr lang="en-US" b="1" dirty="0"/>
              <a:t>The Engine (0:10-0:25):</a:t>
            </a:r>
            <a:r>
              <a:rPr lang="en-US" dirty="0"/>
              <a:t> "After testing six different approaches, focusing on </a:t>
            </a:r>
            <a:r>
              <a:rPr lang="en-US" sz="2000" b="1" kern="1200" dirty="0">
                <a:solidFill>
                  <a:srgbClr val="DCA523"/>
                </a:solidFill>
                <a:latin typeface="Raleway" pitchFamily="2" charset="0"/>
                <a:ea typeface="+mn-ea"/>
                <a:cs typeface="+mn-cs"/>
              </a:rPr>
              <a:t>accuracy, speed, scalability, </a:t>
            </a:r>
            <a:r>
              <a:rPr lang="en-US" dirty="0"/>
              <a:t>we selected </a:t>
            </a:r>
            <a:r>
              <a:rPr lang="en-US" b="1" dirty="0"/>
              <a:t>User-Based Collaborative Filtering with Cosine Similarity</a:t>
            </a:r>
            <a:r>
              <a:rPr lang="en-US" dirty="0"/>
              <a:t>. </a:t>
            </a:r>
          </a:p>
          <a:p>
            <a:r>
              <a:rPr lang="en-US" dirty="0"/>
              <a:t>It was the clear winner, delivering a </a:t>
            </a:r>
            <a:r>
              <a:rPr lang="en-US" b="1" dirty="0"/>
              <a:t>Recall@10 of 0.8358</a:t>
            </a:r>
            <a:r>
              <a:rPr lang="en-US" dirty="0"/>
              <a:t> and an </a:t>
            </a:r>
            <a:r>
              <a:rPr lang="en-US" b="1" dirty="0"/>
              <a:t>F1-Score of 0.3414</a:t>
            </a:r>
            <a:r>
              <a:rPr lang="en-US" dirty="0"/>
              <a:t>. Most importantly, it's fast—processing folds in just 27 seconds."</a:t>
            </a:r>
          </a:p>
          <a:p>
            <a:endParaRPr lang="en-US" b="1" dirty="0"/>
          </a:p>
          <a:p>
            <a:r>
              <a:rPr lang="en-US" b="1" dirty="0"/>
              <a:t>The Empathy Layer (0:25-0:40):</a:t>
            </a:r>
            <a:r>
              <a:rPr lang="en-US" dirty="0"/>
              <a:t> "We then pass these results to the </a:t>
            </a:r>
            <a:r>
              <a:rPr lang="en-US" b="1" dirty="0"/>
              <a:t>Ollama API</a:t>
            </a:r>
            <a:r>
              <a:rPr lang="en-US" dirty="0"/>
              <a:t>, where a pre-trained </a:t>
            </a:r>
            <a:r>
              <a:rPr lang="en-US" b="1" dirty="0"/>
              <a:t>LLM</a:t>
            </a:r>
            <a:r>
              <a:rPr lang="en-US" dirty="0"/>
              <a:t> acts as our personalization layer. It fuses the movie titles with user demographics to write a friendly, 2-3 sentence message. This turns a standard list into a conversation."</a:t>
            </a:r>
          </a:p>
          <a:p>
            <a:endParaRPr lang="en-US" b="1" dirty="0"/>
          </a:p>
          <a:p>
            <a:r>
              <a:rPr lang="en-US" b="1" dirty="0"/>
              <a:t>Final Delivery (0:40-0:45):</a:t>
            </a:r>
            <a:r>
              <a:rPr lang="en-US" dirty="0"/>
              <a:t> "The entire process is served via </a:t>
            </a:r>
            <a:r>
              <a:rPr lang="en-US" b="1" dirty="0" err="1"/>
              <a:t>FastAPI</a:t>
            </a:r>
            <a:r>
              <a:rPr lang="en-US" dirty="0"/>
              <a:t>, ensuring a low-latency, end-to-end user experience."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EDAEA0-AEB0-A17C-2AAF-85006D9F8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7888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Transition:</a:t>
            </a:r>
            <a:r>
              <a:rPr lang="en-US" dirty="0"/>
              <a:t> "To maximize engagement, we’ve integrated a pre-trained LLM via the Ollama API to act as our personalization layer."</a:t>
            </a:r>
          </a:p>
          <a:p>
            <a:r>
              <a:rPr lang="en-US" b="1" dirty="0"/>
              <a:t>The Mechanism:</a:t>
            </a:r>
            <a:r>
              <a:rPr lang="en-US" dirty="0"/>
              <a:t> "By feeding movie titles and user demographics into our custom-engineered prompts, the system generates natural, enthusiastic messages."</a:t>
            </a:r>
          </a:p>
          <a:p>
            <a:r>
              <a:rPr lang="en-US" b="1" dirty="0"/>
              <a:t>The Goal:</a:t>
            </a:r>
            <a:r>
              <a:rPr lang="en-US" dirty="0"/>
              <a:t> "This transforms a cold algorithmic output into human-centered communication that makes every user feel personally valued."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4011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EF9BA-0340-724D-8C28-1959434D1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E823BC3-2D51-274E-8FF8-36815A920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DEC446D-E77D-63A0-BAF6-C7615FB78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3E3F55-1837-3FD7-E23B-262626242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938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Reality check: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 systems age — monitoring keeps them relevant.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441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Authoritative &amp; Future-Focused</a:t>
            </a:r>
          </a:p>
          <a:p>
            <a:r>
              <a:rPr lang="en-US" b="1" dirty="0"/>
              <a:t>Speaker Notes</a:t>
            </a:r>
          </a:p>
          <a:p>
            <a:r>
              <a:rPr lang="en-US" b="1" dirty="0"/>
              <a:t>The Core Logic (0:00-0:10):</a:t>
            </a:r>
            <a:r>
              <a:rPr lang="en-US" dirty="0"/>
              <a:t> "This project isn't just a model; it's a mirror of how industry-grade machine learning is built today. We validated that </a:t>
            </a:r>
            <a:r>
              <a:rPr lang="en-US" b="1" dirty="0"/>
              <a:t>User-Based Cosine Similarity</a:t>
            </a:r>
            <a:r>
              <a:rPr lang="en-US" dirty="0"/>
              <a:t> remains the gold standard for balancing accuracy and speed."</a:t>
            </a:r>
          </a:p>
          <a:p>
            <a:r>
              <a:rPr lang="en-US" b="1" dirty="0"/>
              <a:t>The Unique Edge (0:10-0:20):</a:t>
            </a:r>
            <a:r>
              <a:rPr lang="en-US" dirty="0"/>
              <a:t> "What makes this unique is the </a:t>
            </a:r>
            <a:r>
              <a:rPr lang="en-US" b="1" dirty="0"/>
              <a:t>end-to-end integration of ML and LLMs</a:t>
            </a:r>
            <a:r>
              <a:rPr lang="en-US" dirty="0"/>
              <a:t>. We didn't stop at raw predictions; we used an LLM to bridge the gap between cold data and human connection."</a:t>
            </a:r>
          </a:p>
          <a:p>
            <a:r>
              <a:rPr lang="en-US" b="1" dirty="0"/>
              <a:t>The Final Impact (0:20-0:30):</a:t>
            </a:r>
            <a:r>
              <a:rPr lang="en-US" dirty="0"/>
              <a:t> "By deploying this entire pipeline via </a:t>
            </a:r>
            <a:r>
              <a:rPr lang="en-US" b="1" dirty="0" err="1"/>
              <a:t>FastAPI</a:t>
            </a:r>
            <a:r>
              <a:rPr lang="en-US" dirty="0"/>
              <a:t>, we’ve created a system that is fast, personalized, and built to solve the real-world challenge of user retention through empathy."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582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9D563-2F6A-7C13-3DDC-2BD8C006B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2D7DF83-1861-7525-5647-4863F6C61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8049DE7-98F7-603B-A791-CD9B2EA57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 didn't just pick a model; I conducted a rigorous 'bake-off' between six different approaches. While </a:t>
            </a:r>
            <a:r>
              <a:rPr lang="en-US" b="1" dirty="0"/>
              <a:t>Cluster-Based</a:t>
            </a:r>
            <a:r>
              <a:rPr lang="en-US" dirty="0"/>
              <a:t> methods were fast, they were too generic. On the other hand, </a:t>
            </a:r>
            <a:r>
              <a:rPr lang="en-US" b="1" dirty="0"/>
              <a:t>Item-Based</a:t>
            </a:r>
            <a:r>
              <a:rPr lang="en-US" dirty="0"/>
              <a:t> and </a:t>
            </a:r>
            <a:r>
              <a:rPr lang="en-US" b="1" dirty="0"/>
              <a:t>Pearson</a:t>
            </a:r>
            <a:r>
              <a:rPr lang="en-US" dirty="0"/>
              <a:t> models were computationally expensive, with some taking hours to run. Ultimately, </a:t>
            </a:r>
            <a:r>
              <a:rPr lang="en-US" b="1" dirty="0"/>
              <a:t>User-Based Cosine Similarity</a:t>
            </a:r>
            <a:r>
              <a:rPr lang="en-US" dirty="0"/>
              <a:t> emerged as our winner, giving us the precision we needed without sacrificing the performance our business goals require."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6F00E2-FFD2-4386-1A05-D9C522D0F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03468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F157-3CD4-F221-C956-9AC8CE23D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60045D8-6F1A-0196-7854-83BFD9979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D148C0A-1B46-30B7-0AB7-ACA90D369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 didn't just pick a model; I conducted a rigorous 'bake-off' between six different approaches. While </a:t>
            </a:r>
            <a:r>
              <a:rPr lang="en-US" b="1" dirty="0"/>
              <a:t>Cluster-Based</a:t>
            </a:r>
            <a:r>
              <a:rPr lang="en-US" dirty="0"/>
              <a:t> methods were fast, they were too generic. On the other hand, </a:t>
            </a:r>
            <a:r>
              <a:rPr lang="en-US" b="1" dirty="0"/>
              <a:t>Item-Based</a:t>
            </a:r>
            <a:r>
              <a:rPr lang="en-US" dirty="0"/>
              <a:t> and </a:t>
            </a:r>
            <a:r>
              <a:rPr lang="en-US" b="1" dirty="0"/>
              <a:t>Pearson</a:t>
            </a:r>
            <a:r>
              <a:rPr lang="en-US" dirty="0"/>
              <a:t> models were computationally expensive, with some taking hours to run. Ultimately, </a:t>
            </a:r>
            <a:r>
              <a:rPr lang="en-US" b="1" dirty="0"/>
              <a:t>User-Based Cosine Similarity</a:t>
            </a:r>
            <a:r>
              <a:rPr lang="en-US" dirty="0"/>
              <a:t> emerged as our winner, giving us the precision we needed without sacrificing the performance our business goals require."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123C20-6430-0F12-8595-3BABE650C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0077C-762F-423B-98C6-FA9F2D3C9577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6347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1F32EF-6DE6-C5E0-92AC-3E776778C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3B3DEA8-188C-BBDC-EC66-1653A1A2B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2F0A88-BDCD-EC62-7B54-7BCE80818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47B4-84C7-4BB4-9B9F-B0AE77043395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015859-3982-073B-E77C-CCD8A840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9E7EF7-31AE-1D93-C419-4835CDE8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8BCB-1391-4D9B-8112-94F879443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3949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D0D5DB-B0D9-9678-D051-F311BAF87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160742-77C7-DCD9-019F-2A47BCDB8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C54E1C-340E-C0C5-51CB-DFF5FB15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47B4-84C7-4BB4-9B9F-B0AE77043395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747220-5146-2A36-3166-13D93912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561225-615E-04D7-23E0-EB54E8B26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8BCB-1391-4D9B-8112-94F879443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64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6D68CE-CC22-1074-70E3-2AFCFDC84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39BB10-28AF-C140-BCBF-882FDEB4F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ECD1F3-5181-4162-4C86-7BC4A2C77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47B4-84C7-4BB4-9B9F-B0AE77043395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A92433-1391-BA33-79AE-488F19EF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CA0F57-1E0A-5599-DFCE-E462EA50A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8BCB-1391-4D9B-8112-94F879443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59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15D9E-00BE-DF07-826E-16FECE3BA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1F3136-EADD-515F-0A76-21E18B23B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C58812-4AC4-CC09-4FCC-E69E469C5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9577B-2474-D1DC-B555-D11F480E2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47B4-84C7-4BB4-9B9F-B0AE77043395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89A0A7-618C-4BFB-E0A0-13F87D58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CAF301-06B4-FBA5-B60E-E7CD35E6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8BCB-1391-4D9B-8112-94F879443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196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C6BDE0-E8CB-922F-B684-8922AF90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A71070-672E-D39F-63F2-0B29B6267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AA24E2-099F-11BA-BE72-D3476A495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2FD91A0-3357-C51D-6E88-47F53A22B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014681E-91E4-EEAB-12D4-76D69335C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0874062-C5DA-84E7-4955-71DCEF4D8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47B4-84C7-4BB4-9B9F-B0AE77043395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A757CAA-7A9F-DA4D-9C98-508580A7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A75BB6-D63F-10C4-476B-914C5A4A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8BCB-1391-4D9B-8112-94F879443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3317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DF296-D405-2A3D-2B77-83FE2A19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178EB38-1906-4DC4-8107-394C4AE2F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47B4-84C7-4BB4-9B9F-B0AE77043395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1B1F4E-D325-7A3D-E50A-B5855DBF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C77419-ED64-B16F-56EF-B370B877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8BCB-1391-4D9B-8112-94F879443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617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394E236-99C6-0E0C-F4C5-2B014CE2E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47B4-84C7-4BB4-9B9F-B0AE77043395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D9CC622-2CA6-A28E-043C-F71CA9A92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46EBD1-F19A-1F31-013B-3B6ACB2C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8BCB-1391-4D9B-8112-94F879443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6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931579-1CE2-E96A-C2FD-DE4597E0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B5B82C-A5AA-042C-2CE7-FC384BDF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0713856-B45D-3E79-8E05-44C97653F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1B2C56-CAD6-D226-B3EF-8175E243C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47B4-84C7-4BB4-9B9F-B0AE77043395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ECC759-79D9-9CFF-038A-338DD5119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A7766D-2760-45FD-AFC3-FBFA863F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8BCB-1391-4D9B-8112-94F879443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296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86B5C5-141B-639E-F96E-24B3165A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E60E3DD-6F73-2AF2-D857-851D5BF98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C138FB3-96A3-A792-2827-C3F7A5E49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165361-1801-967A-EA56-8BDC672CB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47B4-84C7-4BB4-9B9F-B0AE77043395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0B2F27-4BB9-4919-D5F6-F2EF205B3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7A80A4-135B-344A-A219-CD167E8F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8BCB-1391-4D9B-8112-94F879443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090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13DA47-CD9A-8985-A482-0582F1B7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BBB3F2C-351F-6771-C5D8-F77DE9272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BC5473-2C3B-653F-F181-01A1812E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47B4-84C7-4BB4-9B9F-B0AE77043395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0CD7E2-A14F-54D5-3677-5A670490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DD1083-0CE0-C991-41DC-95573C8B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8BCB-1391-4D9B-8112-94F879443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753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F396DC-8548-0088-9461-909A43DE3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882DFE-3772-4958-87FD-3E925A98E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B74623-94B8-3A4A-7488-DB851F54D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147B4-84C7-4BB4-9B9F-B0AE77043395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081CFF-D006-18CA-6048-7894EB68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2245FB-1B9B-D460-25A3-AB0F676A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38BCB-1391-4D9B-8112-94F879443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410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rgbClr val="0F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AC45E4F-1F31-D59C-F480-4560418C5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9299" y="167337"/>
            <a:ext cx="1413815" cy="259020"/>
          </a:xfrm>
          <a:prstGeom prst="rect">
            <a:avLst/>
          </a:prstGeom>
        </p:spPr>
      </p:pic>
      <p:sp>
        <p:nvSpPr>
          <p:cNvPr id="11" name="Holder 5">
            <a:extLst>
              <a:ext uri="{FF2B5EF4-FFF2-40B4-BE49-F238E27FC236}">
                <a16:creationId xmlns:a16="http://schemas.microsoft.com/office/drawing/2014/main" id="{6875432D-9BB7-34AA-CFA9-8AC257F52AC7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3D86B7B6-483A-D7B6-8299-EEA21F02C2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‹Nr.›</a:t>
            </a:fld>
            <a:endParaRPr spc="-15" dirty="0"/>
          </a:p>
        </p:txBody>
      </p:sp>
      <p:pic>
        <p:nvPicPr>
          <p:cNvPr id="13" name="bg object 18">
            <a:extLst>
              <a:ext uri="{FF2B5EF4-FFF2-40B4-BE49-F238E27FC236}">
                <a16:creationId xmlns:a16="http://schemas.microsoft.com/office/drawing/2014/main" id="{2308CC93-4A61-B009-9585-B5641192618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503659" y="6525488"/>
            <a:ext cx="158496" cy="22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27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F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AC45E4F-1F31-D59C-F480-4560418C5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9299" y="167337"/>
            <a:ext cx="1413815" cy="259020"/>
          </a:xfrm>
          <a:prstGeom prst="rect">
            <a:avLst/>
          </a:prstGeom>
        </p:spPr>
      </p:pic>
      <p:sp>
        <p:nvSpPr>
          <p:cNvPr id="11" name="Holder 5">
            <a:extLst>
              <a:ext uri="{FF2B5EF4-FFF2-40B4-BE49-F238E27FC236}">
                <a16:creationId xmlns:a16="http://schemas.microsoft.com/office/drawing/2014/main" id="{6875432D-9BB7-34AA-CFA9-8AC257F52AC7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3D86B7B6-483A-D7B6-8299-EEA21F02C2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‹Nr.›</a:t>
            </a:fld>
            <a:endParaRPr spc="-15" dirty="0"/>
          </a:p>
        </p:txBody>
      </p:sp>
      <p:pic>
        <p:nvPicPr>
          <p:cNvPr id="13" name="bg object 18">
            <a:extLst>
              <a:ext uri="{FF2B5EF4-FFF2-40B4-BE49-F238E27FC236}">
                <a16:creationId xmlns:a16="http://schemas.microsoft.com/office/drawing/2014/main" id="{2308CC93-4A61-B009-9585-B5641192618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503659" y="6525488"/>
            <a:ext cx="158496" cy="22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568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FA4F-F886-A519-185B-E3A2004C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F550F-2B5F-6289-F93A-D6534C48C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E1C49-B187-707A-A63B-AB11DBCAB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F4B-D67C-458B-B173-489185364E4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9351B-CAB5-3A76-3B26-8DA4FE02E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066FA-AEE4-A055-A38C-90C8A155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9649-EF75-42C7-8B0F-38A309F9ED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79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51BA-5EE6-BF8B-789B-94FB4412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7192A-98EC-C57A-42E8-93AA64B74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89ACB-CF99-BC90-DC8E-69AEFD3D1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F4B-D67C-458B-B173-489185364E4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475C0-01DE-96CB-7492-9E9C0FB74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8CFB-2B68-9F7F-E902-B4EBB5B2D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9649-EF75-42C7-8B0F-38A309F9ED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67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6813C-10E2-3514-9C61-559C34226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26DB6-91AB-F696-C42C-72763D5D48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007E3-76C2-69E5-06A9-54CEB656C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A767D-0046-D0BB-E2EA-2B8DEF053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F4B-D67C-458B-B173-489185364E4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7CF64-352B-A286-63F3-2C5A3108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B2FEE-5DA0-FF36-7556-9E65DE19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9649-EF75-42C7-8B0F-38A309F9ED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43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7B8E-A3B7-3FDC-E330-5B3CBDED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1C636-6C96-B17F-5C7C-735DD998B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EB671-F481-EFBA-56A3-E308D6DD4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F96BC-C0F6-9741-98EF-91C19AC1F2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2811E-0F1E-1DC8-C06F-3987750C0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68A369-8A53-78B9-BF2B-C9FCD266A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F4B-D67C-458B-B173-489185364E4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80F64C-F15E-9727-CFD5-F39E4D9B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8B5ED7-D20A-3302-FB69-7EAE76EA0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9649-EF75-42C7-8B0F-38A309F9ED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77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2318-43A7-D1B4-51CB-8A3990D3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17992-0F42-52E8-87C0-6A1541DC7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F4B-D67C-458B-B173-489185364E4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7B7206-3912-20C5-E91E-09DF3233D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9C6BC-3C06-99CC-82B4-37690A8E1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9649-EF75-42C7-8B0F-38A309F9ED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381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E8A707-AECC-3147-1295-F868342B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F4B-D67C-458B-B173-489185364E4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98D80-EBE3-45CB-3336-950B93C05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8F78E-7B74-9DD7-C29C-E164D395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9649-EF75-42C7-8B0F-38A309F9ED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13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6127-AA59-755B-43EA-15A6B7C8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42D51-3DC7-85FC-A872-89A2B2BBE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AB5AE-70BE-189C-09CE-B1A681A0F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7E1B4-A195-BCCE-03F5-C896C54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F4B-D67C-458B-B173-489185364E4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674FE-6BF7-740D-CC09-B9E64618A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98BE0-CCC1-687C-2868-BF78BD78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9649-EF75-42C7-8B0F-38A309F9ED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37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2D234-00A5-7E90-071F-242B2CBA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3E3043-D60F-06BE-DECA-BBC0E77FBD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5D46D-8F67-8139-0202-A0EA77357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49ED6-D3D2-226E-0FF0-C6CD6C76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F4B-D67C-458B-B173-489185364E4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5ADFE-0D91-7BAA-C307-B01D0EEE2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4D333-91FC-8613-CF06-C7ED5A6A2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9649-EF75-42C7-8B0F-38A309F9ED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165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EF36-08F6-FDDD-BEF1-88BA0371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23225-8C81-7E48-FC32-15ABDECFB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AAB68-80AD-2911-EF7F-2A78050BE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F4B-D67C-458B-B173-489185364E4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ADF8D-57AA-84F5-A85C-E5A7C1D3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8C85E-78AF-F482-33ED-952EA43A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9649-EF75-42C7-8B0F-38A309F9ED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62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75BD1B-3A11-C5E2-B81D-75D519273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2E9F5-0A9D-0DBC-BE8D-6BE4FB251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E230C-DB20-AAB1-A144-F6FC0A7FD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F4B-D67C-458B-B173-489185364E4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6F0A7-090B-1A52-4339-1803F94A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B5FA6-0D7B-378F-4C9F-B00549E9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F9649-EF75-42C7-8B0F-38A309F9ED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46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9B0CF8-F5F2-B545-17F5-2F3BB01F40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5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76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9EA7079-FD63-2860-0900-DE0381BFD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59A2E9-2125-EEA3-A780-F3A94ACDF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7C4442-2C12-5E33-F073-4B22B0F0B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147B4-84C7-4BB4-9B9F-B0AE77043395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98C702-6D7C-961C-1A92-FB6E566831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F399B3-7368-EA03-A218-30B5C02A4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38BCB-1391-4D9B-8112-94F879443B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6216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E3ACBE-F726-8892-553D-D5A4F69E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DD92B-EFD5-746C-5D7A-E1384244B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15A11-0423-2CCC-BAF7-2A52F047C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7DF4B-D67C-458B-B173-489185364E4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886FB-5859-9302-BB12-C3B43D839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0C8D4-4F85-641C-1602-B2779335D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F9649-EF75-42C7-8B0F-38A309F9ED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en/d/db/The_Matrix.p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doc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venglert/ai_movie_recommender" TargetMode="External"/><Relationship Id="rId2" Type="http://schemas.openxmlformats.org/officeDocument/2006/relationships/hyperlink" Target="https://docs.google.com/document/d/16tTgqE8vNhzqvspZlIKriR4X1vgXIRD0DSMaAOSNNMk/edit?tab=t.0" TargetMode="Externa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29B6E5-57AE-1061-F637-590540B241C9}"/>
              </a:ext>
            </a:extLst>
          </p:cNvPr>
          <p:cNvCxnSpPr>
            <a:cxnSpLocks/>
          </p:cNvCxnSpPr>
          <p:nvPr/>
        </p:nvCxnSpPr>
        <p:spPr>
          <a:xfrm flipV="1">
            <a:off x="2404648" y="0"/>
            <a:ext cx="0" cy="1349829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D7E0F7-6083-B64B-4B43-B4D615566A34}"/>
              </a:ext>
            </a:extLst>
          </p:cNvPr>
          <p:cNvCxnSpPr>
            <a:cxnSpLocks/>
          </p:cNvCxnSpPr>
          <p:nvPr/>
        </p:nvCxnSpPr>
        <p:spPr>
          <a:xfrm flipV="1">
            <a:off x="2404648" y="3500438"/>
            <a:ext cx="0" cy="3357562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4601ED3-40C5-D09B-8935-9A40335F5E47}"/>
              </a:ext>
            </a:extLst>
          </p:cNvPr>
          <p:cNvSpPr/>
          <p:nvPr/>
        </p:nvSpPr>
        <p:spPr>
          <a:xfrm>
            <a:off x="1366608" y="5882674"/>
            <a:ext cx="9458784" cy="119919"/>
          </a:xfrm>
          <a:prstGeom prst="rect">
            <a:avLst/>
          </a:prstGeom>
          <a:solidFill>
            <a:srgbClr val="DCA5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D98A16-BE45-395B-921C-78CBC7CDB792}"/>
              </a:ext>
            </a:extLst>
          </p:cNvPr>
          <p:cNvSpPr/>
          <p:nvPr/>
        </p:nvSpPr>
        <p:spPr>
          <a:xfrm>
            <a:off x="1300542" y="1361987"/>
            <a:ext cx="2242717" cy="2242717"/>
          </a:xfrm>
          <a:prstGeom prst="ellipse">
            <a:avLst/>
          </a:prstGeom>
          <a:solidFill>
            <a:srgbClr val="0F0A05"/>
          </a:solidFill>
          <a:ln w="142875">
            <a:solidFill>
              <a:srgbClr val="DCA5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70FA84-6F7B-A655-FE70-311D94173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914" y="2304905"/>
            <a:ext cx="1947972" cy="3568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14BBE6-67B9-BBF8-0A1B-36708BFAA791}"/>
              </a:ext>
            </a:extLst>
          </p:cNvPr>
          <p:cNvSpPr txBox="1"/>
          <p:nvPr/>
        </p:nvSpPr>
        <p:spPr>
          <a:xfrm>
            <a:off x="4348354" y="1421516"/>
            <a:ext cx="681055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AI-Powered Movie Recommendation System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37E25F-A7F3-7776-735B-546EB1E24BA2}"/>
              </a:ext>
            </a:extLst>
          </p:cNvPr>
          <p:cNvCxnSpPr>
            <a:cxnSpLocks/>
          </p:cNvCxnSpPr>
          <p:nvPr/>
        </p:nvCxnSpPr>
        <p:spPr>
          <a:xfrm>
            <a:off x="4463146" y="4055836"/>
            <a:ext cx="3479800" cy="0"/>
          </a:xfrm>
          <a:prstGeom prst="line">
            <a:avLst/>
          </a:prstGeom>
          <a:ln w="1714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8DDE819-1E5B-B7E8-48A2-4473586ECDAF}"/>
              </a:ext>
            </a:extLst>
          </p:cNvPr>
          <p:cNvCxnSpPr>
            <a:cxnSpLocks/>
          </p:cNvCxnSpPr>
          <p:nvPr/>
        </p:nvCxnSpPr>
        <p:spPr>
          <a:xfrm>
            <a:off x="4463146" y="4055836"/>
            <a:ext cx="641350" cy="0"/>
          </a:xfrm>
          <a:prstGeom prst="line">
            <a:avLst/>
          </a:prstGeom>
          <a:ln w="63500">
            <a:solidFill>
              <a:srgbClr val="DCA5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AEC3179-0245-F9AB-39A7-6A65C82B0B40}"/>
              </a:ext>
            </a:extLst>
          </p:cNvPr>
          <p:cNvSpPr txBox="1"/>
          <p:nvPr/>
        </p:nvSpPr>
        <p:spPr>
          <a:xfrm>
            <a:off x="4338368" y="4449201"/>
            <a:ext cx="707274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Raleway" pitchFamily="2" charset="0"/>
                <a:cs typeface="Poppins Light" panose="00000400000000000000" pitchFamily="2" charset="0"/>
              </a:rPr>
              <a:t>Presented by:</a:t>
            </a:r>
          </a:p>
          <a:p>
            <a:r>
              <a:rPr lang="en-US" sz="2000" dirty="0">
                <a:solidFill>
                  <a:schemeClr val="bg1"/>
                </a:solidFill>
                <a:latin typeface="Raleway" pitchFamily="2" charset="0"/>
                <a:cs typeface="Poppins Light" panose="00000400000000000000" pitchFamily="2" charset="0"/>
              </a:rPr>
              <a:t>Evgeniya Englert</a:t>
            </a:r>
          </a:p>
          <a:p>
            <a:r>
              <a:rPr lang="en-US" sz="1500" i="1" dirty="0" err="1">
                <a:solidFill>
                  <a:schemeClr val="bg1"/>
                </a:solidFill>
                <a:latin typeface="Raleway" pitchFamily="2" charset="0"/>
                <a:cs typeface="Poppins Light" panose="00000400000000000000" pitchFamily="2" charset="0"/>
              </a:rPr>
              <a:t>Codelabs</a:t>
            </a:r>
            <a:r>
              <a:rPr lang="en-US" sz="1500" i="1" dirty="0">
                <a:solidFill>
                  <a:schemeClr val="bg1"/>
                </a:solidFill>
                <a:latin typeface="Raleway" pitchFamily="2" charset="0"/>
                <a:cs typeface="Poppins Light" panose="00000400000000000000" pitchFamily="2" charset="0"/>
              </a:rPr>
              <a:t> Academy - DSFT 0725</a:t>
            </a:r>
          </a:p>
          <a:p>
            <a:r>
              <a:rPr lang="en-US" sz="1500" i="1" dirty="0">
                <a:solidFill>
                  <a:schemeClr val="bg1"/>
                </a:solidFill>
                <a:latin typeface="Raleway" pitchFamily="2" charset="0"/>
                <a:cs typeface="Poppins Light" panose="00000400000000000000" pitchFamily="2" charset="0"/>
              </a:rPr>
              <a:t>February 3</a:t>
            </a:r>
            <a:r>
              <a:rPr lang="en-US" sz="1500" i="1" baseline="30000" dirty="0">
                <a:solidFill>
                  <a:schemeClr val="bg1"/>
                </a:solidFill>
                <a:latin typeface="Raleway" pitchFamily="2" charset="0"/>
                <a:cs typeface="Poppins Light" panose="00000400000000000000" pitchFamily="2" charset="0"/>
              </a:rPr>
              <a:t>rd</a:t>
            </a:r>
            <a:r>
              <a:rPr lang="en-US" sz="1500" i="1" dirty="0">
                <a:solidFill>
                  <a:schemeClr val="bg1"/>
                </a:solidFill>
                <a:latin typeface="Raleway" pitchFamily="2" charset="0"/>
                <a:cs typeface="Poppins Light" panose="00000400000000000000" pitchFamily="2" charset="0"/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2887117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5">
            <a:extLst>
              <a:ext uri="{FF2B5EF4-FFF2-40B4-BE49-F238E27FC236}">
                <a16:creationId xmlns:a16="http://schemas.microsoft.com/office/drawing/2014/main" id="{0F9F4EEB-7398-B0D8-37B0-2038F069DCB4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493D3EFD-37B8-298D-C4A8-E17FBE40A5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2</a:t>
            </a:fld>
            <a:endParaRPr spc="-1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FF7156-8040-39AF-916B-053A9F13E73D}"/>
              </a:ext>
            </a:extLst>
          </p:cNvPr>
          <p:cNvSpPr txBox="1"/>
          <p:nvPr/>
        </p:nvSpPr>
        <p:spPr>
          <a:xfrm>
            <a:off x="526307" y="514852"/>
            <a:ext cx="52391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Objectives</a:t>
            </a:r>
            <a:endParaRPr lang="en-PK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3B69D2-CB30-EF7C-0AB4-C2CDF375725E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AA3CFB9-0C4E-C6CF-1F46-E5E283559AC4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BE1AFE-618D-B5BB-D242-AD7A85AB98C6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0ABC178-CBF4-1A13-E1BB-0C55438D63C9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502CE8C-091B-2699-06BB-F7F7F37B56B8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9EFC844-CB7A-48CB-16B2-425634498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82" y="5240529"/>
            <a:ext cx="307782" cy="307782"/>
          </a:xfrm>
          <a:prstGeom prst="rect">
            <a:avLst/>
          </a:prstGeom>
        </p:spPr>
      </p:pic>
      <p:grpSp>
        <p:nvGrpSpPr>
          <p:cNvPr id="2" name="Group 43">
            <a:extLst>
              <a:ext uri="{FF2B5EF4-FFF2-40B4-BE49-F238E27FC236}">
                <a16:creationId xmlns:a16="http://schemas.microsoft.com/office/drawing/2014/main" id="{12C94967-3ACD-DDA6-9C23-EBB277F7AF8C}"/>
              </a:ext>
            </a:extLst>
          </p:cNvPr>
          <p:cNvGrpSpPr/>
          <p:nvPr/>
        </p:nvGrpSpPr>
        <p:grpSpPr>
          <a:xfrm>
            <a:off x="1134209" y="2220875"/>
            <a:ext cx="10197366" cy="2904590"/>
            <a:chOff x="1355171" y="2615239"/>
            <a:chExt cx="9481658" cy="2700730"/>
          </a:xfrm>
        </p:grpSpPr>
        <p:grpSp>
          <p:nvGrpSpPr>
            <p:cNvPr id="4" name="Graphic 24">
              <a:extLst>
                <a:ext uri="{FF2B5EF4-FFF2-40B4-BE49-F238E27FC236}">
                  <a16:creationId xmlns:a16="http://schemas.microsoft.com/office/drawing/2014/main" id="{C6538531-A779-8379-9890-EB0E5AE55996}"/>
                </a:ext>
              </a:extLst>
            </p:cNvPr>
            <p:cNvGrpSpPr/>
            <p:nvPr/>
          </p:nvGrpSpPr>
          <p:grpSpPr>
            <a:xfrm>
              <a:off x="1355171" y="2615239"/>
              <a:ext cx="9481658" cy="2700730"/>
              <a:chOff x="2496445" y="2545482"/>
              <a:chExt cx="7197559" cy="2050132"/>
            </a:xfrm>
            <a:solidFill>
              <a:srgbClr val="DCA523"/>
            </a:solidFill>
          </p:grpSpPr>
          <p:grpSp>
            <p:nvGrpSpPr>
              <p:cNvPr id="35" name="Graphic 24">
                <a:extLst>
                  <a:ext uri="{FF2B5EF4-FFF2-40B4-BE49-F238E27FC236}">
                    <a16:creationId xmlns:a16="http://schemas.microsoft.com/office/drawing/2014/main" id="{50358120-6D90-C699-B565-4E099BAC282E}"/>
                  </a:ext>
                </a:extLst>
              </p:cNvPr>
              <p:cNvGrpSpPr/>
              <p:nvPr/>
            </p:nvGrpSpPr>
            <p:grpSpPr>
              <a:xfrm>
                <a:off x="7473468" y="2545482"/>
                <a:ext cx="2220536" cy="2050132"/>
                <a:chOff x="7473468" y="2545482"/>
                <a:chExt cx="2220536" cy="2050132"/>
              </a:xfrm>
              <a:grpFill/>
            </p:grpSpPr>
            <p:sp>
              <p:nvSpPr>
                <p:cNvPr id="52" name="Freeform: Shape 27">
                  <a:extLst>
                    <a:ext uri="{FF2B5EF4-FFF2-40B4-BE49-F238E27FC236}">
                      <a16:creationId xmlns:a16="http://schemas.microsoft.com/office/drawing/2014/main" id="{EB13C317-C164-5AA6-E4E1-325DDB9E0D83}"/>
                    </a:ext>
                  </a:extLst>
                </p:cNvPr>
                <p:cNvSpPr/>
                <p:nvPr/>
              </p:nvSpPr>
              <p:spPr>
                <a:xfrm>
                  <a:off x="7644249" y="3746362"/>
                  <a:ext cx="1347650" cy="849251"/>
                </a:xfrm>
                <a:custGeom>
                  <a:avLst/>
                  <a:gdLst>
                    <a:gd name="connsiteX0" fmla="*/ 1326351 w 1347650"/>
                    <a:gd name="connsiteY0" fmla="*/ 806654 h 849251"/>
                    <a:gd name="connsiteX1" fmla="*/ 489104 w 1347650"/>
                    <a:gd name="connsiteY1" fmla="*/ 806654 h 849251"/>
                    <a:gd name="connsiteX2" fmla="*/ 42598 w 1347650"/>
                    <a:gd name="connsiteY2" fmla="*/ 360148 h 849251"/>
                    <a:gd name="connsiteX3" fmla="*/ 42598 w 1347650"/>
                    <a:gd name="connsiteY3" fmla="*/ 21299 h 849251"/>
                    <a:gd name="connsiteX4" fmla="*/ 21299 w 1347650"/>
                    <a:gd name="connsiteY4" fmla="*/ 0 h 849251"/>
                    <a:gd name="connsiteX5" fmla="*/ 0 w 1347650"/>
                    <a:gd name="connsiteY5" fmla="*/ 21299 h 849251"/>
                    <a:gd name="connsiteX6" fmla="*/ 0 w 1347650"/>
                    <a:gd name="connsiteY6" fmla="*/ 360148 h 849251"/>
                    <a:gd name="connsiteX7" fmla="*/ 143285 w 1347650"/>
                    <a:gd name="connsiteY7" fmla="*/ 705967 h 849251"/>
                    <a:gd name="connsiteX8" fmla="*/ 489104 w 1347650"/>
                    <a:gd name="connsiteY8" fmla="*/ 849252 h 849251"/>
                    <a:gd name="connsiteX9" fmla="*/ 1326351 w 1347650"/>
                    <a:gd name="connsiteY9" fmla="*/ 849252 h 849251"/>
                    <a:gd name="connsiteX10" fmla="*/ 1347650 w 1347650"/>
                    <a:gd name="connsiteY10" fmla="*/ 827953 h 849251"/>
                    <a:gd name="connsiteX11" fmla="*/ 1326351 w 1347650"/>
                    <a:gd name="connsiteY11" fmla="*/ 806654 h 8492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347650" h="849251">
                      <a:moveTo>
                        <a:pt x="1326351" y="806654"/>
                      </a:moveTo>
                      <a:lnTo>
                        <a:pt x="489104" y="806654"/>
                      </a:lnTo>
                      <a:cubicBezTo>
                        <a:pt x="242809" y="806654"/>
                        <a:pt x="42598" y="606443"/>
                        <a:pt x="42598" y="360148"/>
                      </a:cubicBezTo>
                      <a:lnTo>
                        <a:pt x="42598" y="21299"/>
                      </a:lnTo>
                      <a:cubicBezTo>
                        <a:pt x="42598" y="9681"/>
                        <a:pt x="32917" y="0"/>
                        <a:pt x="21299" y="0"/>
                      </a:cubicBezTo>
                      <a:cubicBezTo>
                        <a:pt x="9681" y="0"/>
                        <a:pt x="0" y="9681"/>
                        <a:pt x="0" y="21299"/>
                      </a:cubicBezTo>
                      <a:lnTo>
                        <a:pt x="0" y="360148"/>
                      </a:lnTo>
                      <a:cubicBezTo>
                        <a:pt x="0" y="490653"/>
                        <a:pt x="50730" y="613800"/>
                        <a:pt x="143285" y="705967"/>
                      </a:cubicBezTo>
                      <a:cubicBezTo>
                        <a:pt x="235838" y="798521"/>
                        <a:pt x="358599" y="849252"/>
                        <a:pt x="489104" y="849252"/>
                      </a:cubicBezTo>
                      <a:lnTo>
                        <a:pt x="1326351" y="849252"/>
                      </a:lnTo>
                      <a:cubicBezTo>
                        <a:pt x="1337969" y="849252"/>
                        <a:pt x="1347650" y="839571"/>
                        <a:pt x="1347650" y="827953"/>
                      </a:cubicBezTo>
                      <a:cubicBezTo>
                        <a:pt x="1347650" y="816335"/>
                        <a:pt x="1337969" y="806654"/>
                        <a:pt x="1326351" y="806654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3" name="Freeform: Shape 28">
                  <a:extLst>
                    <a:ext uri="{FF2B5EF4-FFF2-40B4-BE49-F238E27FC236}">
                      <a16:creationId xmlns:a16="http://schemas.microsoft.com/office/drawing/2014/main" id="{BB41F9A8-E313-4E9D-1E12-98F892D1B50E}"/>
                    </a:ext>
                  </a:extLst>
                </p:cNvPr>
                <p:cNvSpPr/>
                <p:nvPr/>
              </p:nvSpPr>
              <p:spPr>
                <a:xfrm>
                  <a:off x="9189775" y="4553015"/>
                  <a:ext cx="44169" cy="42598"/>
                </a:xfrm>
                <a:custGeom>
                  <a:avLst/>
                  <a:gdLst>
                    <a:gd name="connsiteX0" fmla="*/ 22859 w 44169"/>
                    <a:gd name="connsiteY0" fmla="*/ 0 h 42598"/>
                    <a:gd name="connsiteX1" fmla="*/ 22859 w 44169"/>
                    <a:gd name="connsiteY1" fmla="*/ 0 h 42598"/>
                    <a:gd name="connsiteX2" fmla="*/ 20923 w 44169"/>
                    <a:gd name="connsiteY2" fmla="*/ 0 h 42598"/>
                    <a:gd name="connsiteX3" fmla="*/ 11 w 44169"/>
                    <a:gd name="connsiteY3" fmla="*/ 21686 h 42598"/>
                    <a:gd name="connsiteX4" fmla="*/ 21310 w 44169"/>
                    <a:gd name="connsiteY4" fmla="*/ 42598 h 42598"/>
                    <a:gd name="connsiteX5" fmla="*/ 21697 w 44169"/>
                    <a:gd name="connsiteY5" fmla="*/ 42598 h 42598"/>
                    <a:gd name="connsiteX6" fmla="*/ 23247 w 44169"/>
                    <a:gd name="connsiteY6" fmla="*/ 42598 h 42598"/>
                    <a:gd name="connsiteX7" fmla="*/ 44158 w 44169"/>
                    <a:gd name="connsiteY7" fmla="*/ 20912 h 42598"/>
                    <a:gd name="connsiteX8" fmla="*/ 22859 w 44169"/>
                    <a:gd name="connsiteY8" fmla="*/ 0 h 42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169" h="42598">
                      <a:moveTo>
                        <a:pt x="22859" y="0"/>
                      </a:moveTo>
                      <a:cubicBezTo>
                        <a:pt x="22472" y="0"/>
                        <a:pt x="22472" y="0"/>
                        <a:pt x="22859" y="0"/>
                      </a:cubicBezTo>
                      <a:lnTo>
                        <a:pt x="20923" y="0"/>
                      </a:lnTo>
                      <a:cubicBezTo>
                        <a:pt x="9305" y="0"/>
                        <a:pt x="-376" y="9681"/>
                        <a:pt x="11" y="21686"/>
                      </a:cubicBezTo>
                      <a:cubicBezTo>
                        <a:pt x="11" y="33304"/>
                        <a:pt x="9693" y="42598"/>
                        <a:pt x="21310" y="42598"/>
                      </a:cubicBezTo>
                      <a:cubicBezTo>
                        <a:pt x="21310" y="42598"/>
                        <a:pt x="21310" y="42598"/>
                        <a:pt x="21697" y="42598"/>
                      </a:cubicBezTo>
                      <a:lnTo>
                        <a:pt x="23247" y="42598"/>
                      </a:lnTo>
                      <a:cubicBezTo>
                        <a:pt x="34864" y="42598"/>
                        <a:pt x="44546" y="32917"/>
                        <a:pt x="44158" y="20912"/>
                      </a:cubicBezTo>
                      <a:cubicBezTo>
                        <a:pt x="43771" y="9294"/>
                        <a:pt x="34477" y="0"/>
                        <a:pt x="22859" y="0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: Shape 29">
                  <a:extLst>
                    <a:ext uri="{FF2B5EF4-FFF2-40B4-BE49-F238E27FC236}">
                      <a16:creationId xmlns:a16="http://schemas.microsoft.com/office/drawing/2014/main" id="{36C621BB-13F4-B40A-0516-7FB4853C2B5E}"/>
                    </a:ext>
                  </a:extLst>
                </p:cNvPr>
                <p:cNvSpPr/>
                <p:nvPr/>
              </p:nvSpPr>
              <p:spPr>
                <a:xfrm>
                  <a:off x="9418941" y="4488745"/>
                  <a:ext cx="44234" cy="43358"/>
                </a:xfrm>
                <a:custGeom>
                  <a:avLst/>
                  <a:gdLst>
                    <a:gd name="connsiteX0" fmla="*/ 11719 w 44234"/>
                    <a:gd name="connsiteY0" fmla="*/ 3084 h 43358"/>
                    <a:gd name="connsiteX1" fmla="*/ 10557 w 44234"/>
                    <a:gd name="connsiteY1" fmla="*/ 3859 h 43358"/>
                    <a:gd name="connsiteX2" fmla="*/ 2812 w 44234"/>
                    <a:gd name="connsiteY2" fmla="*/ 32903 h 43358"/>
                    <a:gd name="connsiteX3" fmla="*/ 21400 w 44234"/>
                    <a:gd name="connsiteY3" fmla="*/ 43359 h 43358"/>
                    <a:gd name="connsiteX4" fmla="*/ 32243 w 44234"/>
                    <a:gd name="connsiteY4" fmla="*/ 40261 h 43358"/>
                    <a:gd name="connsiteX5" fmla="*/ 33792 w 44234"/>
                    <a:gd name="connsiteY5" fmla="*/ 39486 h 43358"/>
                    <a:gd name="connsiteX6" fmla="*/ 41150 w 44234"/>
                    <a:gd name="connsiteY6" fmla="*/ 10442 h 43358"/>
                    <a:gd name="connsiteX7" fmla="*/ 11719 w 44234"/>
                    <a:gd name="connsiteY7" fmla="*/ 3084 h 433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4234" h="43358">
                      <a:moveTo>
                        <a:pt x="11719" y="3084"/>
                      </a:moveTo>
                      <a:lnTo>
                        <a:pt x="10557" y="3859"/>
                      </a:lnTo>
                      <a:cubicBezTo>
                        <a:pt x="488" y="9668"/>
                        <a:pt x="-2997" y="22834"/>
                        <a:pt x="2812" y="32903"/>
                      </a:cubicBezTo>
                      <a:cubicBezTo>
                        <a:pt x="6684" y="39874"/>
                        <a:pt x="14042" y="43359"/>
                        <a:pt x="21400" y="43359"/>
                      </a:cubicBezTo>
                      <a:cubicBezTo>
                        <a:pt x="24885" y="43359"/>
                        <a:pt x="28758" y="42584"/>
                        <a:pt x="32243" y="40261"/>
                      </a:cubicBezTo>
                      <a:lnTo>
                        <a:pt x="33792" y="39486"/>
                      </a:lnTo>
                      <a:cubicBezTo>
                        <a:pt x="43861" y="33678"/>
                        <a:pt x="47346" y="20511"/>
                        <a:pt x="41150" y="10442"/>
                      </a:cubicBezTo>
                      <a:cubicBezTo>
                        <a:pt x="34954" y="374"/>
                        <a:pt x="21787" y="-3112"/>
                        <a:pt x="11719" y="3084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" name="Freeform: Shape 30">
                  <a:extLst>
                    <a:ext uri="{FF2B5EF4-FFF2-40B4-BE49-F238E27FC236}">
                      <a16:creationId xmlns:a16="http://schemas.microsoft.com/office/drawing/2014/main" id="{C8447158-490F-CE66-1596-A25057766728}"/>
                    </a:ext>
                  </a:extLst>
                </p:cNvPr>
                <p:cNvSpPr/>
                <p:nvPr/>
              </p:nvSpPr>
              <p:spPr>
                <a:xfrm>
                  <a:off x="9587699" y="4320174"/>
                  <a:ext cx="43393" cy="43860"/>
                </a:xfrm>
                <a:custGeom>
                  <a:avLst/>
                  <a:gdLst>
                    <a:gd name="connsiteX0" fmla="*/ 32716 w 43393"/>
                    <a:gd name="connsiteY0" fmla="*/ 2812 h 43860"/>
                    <a:gd name="connsiteX1" fmla="*/ 3672 w 43393"/>
                    <a:gd name="connsiteY1" fmla="*/ 10557 h 43860"/>
                    <a:gd name="connsiteX2" fmla="*/ 2897 w 43393"/>
                    <a:gd name="connsiteY2" fmla="*/ 11719 h 43860"/>
                    <a:gd name="connsiteX3" fmla="*/ 10643 w 43393"/>
                    <a:gd name="connsiteY3" fmla="*/ 40763 h 43860"/>
                    <a:gd name="connsiteX4" fmla="*/ 21485 w 43393"/>
                    <a:gd name="connsiteY4" fmla="*/ 43861 h 43860"/>
                    <a:gd name="connsiteX5" fmla="*/ 40074 w 43393"/>
                    <a:gd name="connsiteY5" fmla="*/ 33405 h 43860"/>
                    <a:gd name="connsiteX6" fmla="*/ 40848 w 43393"/>
                    <a:gd name="connsiteY6" fmla="*/ 31856 h 43860"/>
                    <a:gd name="connsiteX7" fmla="*/ 32716 w 43393"/>
                    <a:gd name="connsiteY7" fmla="*/ 2812 h 43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393" h="43860">
                      <a:moveTo>
                        <a:pt x="32716" y="2812"/>
                      </a:moveTo>
                      <a:cubicBezTo>
                        <a:pt x="22647" y="-2997"/>
                        <a:pt x="9481" y="488"/>
                        <a:pt x="3672" y="10557"/>
                      </a:cubicBezTo>
                      <a:lnTo>
                        <a:pt x="2897" y="11719"/>
                      </a:lnTo>
                      <a:cubicBezTo>
                        <a:pt x="-2911" y="21787"/>
                        <a:pt x="186" y="34954"/>
                        <a:pt x="10643" y="40763"/>
                      </a:cubicBezTo>
                      <a:cubicBezTo>
                        <a:pt x="14128" y="42699"/>
                        <a:pt x="17613" y="43861"/>
                        <a:pt x="21485" y="43861"/>
                      </a:cubicBezTo>
                      <a:cubicBezTo>
                        <a:pt x="28843" y="43861"/>
                        <a:pt x="35814" y="39988"/>
                        <a:pt x="40074" y="33405"/>
                      </a:cubicBezTo>
                      <a:lnTo>
                        <a:pt x="40848" y="31856"/>
                      </a:lnTo>
                      <a:cubicBezTo>
                        <a:pt x="46270" y="21787"/>
                        <a:pt x="42785" y="8621"/>
                        <a:pt x="32716" y="2812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6" name="Freeform: Shape 31">
                  <a:extLst>
                    <a:ext uri="{FF2B5EF4-FFF2-40B4-BE49-F238E27FC236}">
                      <a16:creationId xmlns:a16="http://schemas.microsoft.com/office/drawing/2014/main" id="{D3854113-26FB-2872-421F-38E21D12A6F2}"/>
                    </a:ext>
                  </a:extLst>
                </p:cNvPr>
                <p:cNvSpPr/>
                <p:nvPr/>
              </p:nvSpPr>
              <p:spPr>
                <a:xfrm>
                  <a:off x="9651384" y="4090632"/>
                  <a:ext cx="42620" cy="44147"/>
                </a:xfrm>
                <a:custGeom>
                  <a:avLst/>
                  <a:gdLst>
                    <a:gd name="connsiteX0" fmla="*/ 21697 w 42620"/>
                    <a:gd name="connsiteY0" fmla="*/ 0 h 44147"/>
                    <a:gd name="connsiteX1" fmla="*/ 11 w 42620"/>
                    <a:gd name="connsiteY1" fmla="*/ 20912 h 44147"/>
                    <a:gd name="connsiteX2" fmla="*/ 11 w 42620"/>
                    <a:gd name="connsiteY2" fmla="*/ 22461 h 44147"/>
                    <a:gd name="connsiteX3" fmla="*/ 20923 w 42620"/>
                    <a:gd name="connsiteY3" fmla="*/ 44147 h 44147"/>
                    <a:gd name="connsiteX4" fmla="*/ 21310 w 42620"/>
                    <a:gd name="connsiteY4" fmla="*/ 44147 h 44147"/>
                    <a:gd name="connsiteX5" fmla="*/ 42609 w 42620"/>
                    <a:gd name="connsiteY5" fmla="*/ 23235 h 44147"/>
                    <a:gd name="connsiteX6" fmla="*/ 42609 w 42620"/>
                    <a:gd name="connsiteY6" fmla="*/ 21686 h 44147"/>
                    <a:gd name="connsiteX7" fmla="*/ 21697 w 42620"/>
                    <a:gd name="connsiteY7" fmla="*/ 0 h 44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2620" h="44147">
                      <a:moveTo>
                        <a:pt x="21697" y="0"/>
                      </a:moveTo>
                      <a:cubicBezTo>
                        <a:pt x="10080" y="0"/>
                        <a:pt x="398" y="9294"/>
                        <a:pt x="11" y="20912"/>
                      </a:cubicBezTo>
                      <a:lnTo>
                        <a:pt x="11" y="22461"/>
                      </a:lnTo>
                      <a:cubicBezTo>
                        <a:pt x="-376" y="34078"/>
                        <a:pt x="9305" y="44147"/>
                        <a:pt x="20923" y="44147"/>
                      </a:cubicBezTo>
                      <a:cubicBezTo>
                        <a:pt x="20923" y="44147"/>
                        <a:pt x="21310" y="44147"/>
                        <a:pt x="21310" y="44147"/>
                      </a:cubicBezTo>
                      <a:cubicBezTo>
                        <a:pt x="32928" y="44147"/>
                        <a:pt x="42222" y="34853"/>
                        <a:pt x="42609" y="23235"/>
                      </a:cubicBezTo>
                      <a:lnTo>
                        <a:pt x="42609" y="21686"/>
                      </a:lnTo>
                      <a:cubicBezTo>
                        <a:pt x="42997" y="9681"/>
                        <a:pt x="33315" y="387"/>
                        <a:pt x="21697" y="0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7" name="Freeform: Shape 32">
                  <a:extLst>
                    <a:ext uri="{FF2B5EF4-FFF2-40B4-BE49-F238E27FC236}">
                      <a16:creationId xmlns:a16="http://schemas.microsoft.com/office/drawing/2014/main" id="{E7B0524E-ECFE-0642-5998-5D261885799C}"/>
                    </a:ext>
                  </a:extLst>
                </p:cNvPr>
                <p:cNvSpPr/>
                <p:nvPr/>
              </p:nvSpPr>
              <p:spPr>
                <a:xfrm>
                  <a:off x="7473468" y="2545482"/>
                  <a:ext cx="2220525" cy="1347650"/>
                </a:xfrm>
                <a:custGeom>
                  <a:avLst/>
                  <a:gdLst>
                    <a:gd name="connsiteX0" fmla="*/ 2077240 w 2220525"/>
                    <a:gd name="connsiteY0" fmla="*/ 143285 h 1347650"/>
                    <a:gd name="connsiteX1" fmla="*/ 1731421 w 2220525"/>
                    <a:gd name="connsiteY1" fmla="*/ 0 h 1347650"/>
                    <a:gd name="connsiteX2" fmla="*/ 659884 w 2220525"/>
                    <a:gd name="connsiteY2" fmla="*/ 0 h 1347650"/>
                    <a:gd name="connsiteX3" fmla="*/ 314065 w 2220525"/>
                    <a:gd name="connsiteY3" fmla="*/ 143285 h 1347650"/>
                    <a:gd name="connsiteX4" fmla="*/ 170780 w 2220525"/>
                    <a:gd name="connsiteY4" fmla="*/ 489104 h 1347650"/>
                    <a:gd name="connsiteX5" fmla="*/ 170780 w 2220525"/>
                    <a:gd name="connsiteY5" fmla="*/ 874424 h 1347650"/>
                    <a:gd name="connsiteX6" fmla="*/ 41437 w 2220525"/>
                    <a:gd name="connsiteY6" fmla="*/ 1003767 h 1347650"/>
                    <a:gd name="connsiteX7" fmla="*/ 21299 w 2220525"/>
                    <a:gd name="connsiteY7" fmla="*/ 1003767 h 1347650"/>
                    <a:gd name="connsiteX8" fmla="*/ 0 w 2220525"/>
                    <a:gd name="connsiteY8" fmla="*/ 1025066 h 1347650"/>
                    <a:gd name="connsiteX9" fmla="*/ 21299 w 2220525"/>
                    <a:gd name="connsiteY9" fmla="*/ 1046365 h 1347650"/>
                    <a:gd name="connsiteX10" fmla="*/ 41437 w 2220525"/>
                    <a:gd name="connsiteY10" fmla="*/ 1046365 h 1347650"/>
                    <a:gd name="connsiteX11" fmla="*/ 213378 w 2220525"/>
                    <a:gd name="connsiteY11" fmla="*/ 874424 h 1347650"/>
                    <a:gd name="connsiteX12" fmla="*/ 213378 w 2220525"/>
                    <a:gd name="connsiteY12" fmla="*/ 489104 h 1347650"/>
                    <a:gd name="connsiteX13" fmla="*/ 659884 w 2220525"/>
                    <a:gd name="connsiteY13" fmla="*/ 42598 h 1347650"/>
                    <a:gd name="connsiteX14" fmla="*/ 1731421 w 2220525"/>
                    <a:gd name="connsiteY14" fmla="*/ 42598 h 1347650"/>
                    <a:gd name="connsiteX15" fmla="*/ 2177927 w 2220525"/>
                    <a:gd name="connsiteY15" fmla="*/ 489104 h 1347650"/>
                    <a:gd name="connsiteX16" fmla="*/ 2177927 w 2220525"/>
                    <a:gd name="connsiteY16" fmla="*/ 1326351 h 1347650"/>
                    <a:gd name="connsiteX17" fmla="*/ 2199226 w 2220525"/>
                    <a:gd name="connsiteY17" fmla="*/ 1347650 h 1347650"/>
                    <a:gd name="connsiteX18" fmla="*/ 2220525 w 2220525"/>
                    <a:gd name="connsiteY18" fmla="*/ 1326351 h 1347650"/>
                    <a:gd name="connsiteX19" fmla="*/ 2220525 w 2220525"/>
                    <a:gd name="connsiteY19" fmla="*/ 489104 h 1347650"/>
                    <a:gd name="connsiteX20" fmla="*/ 2077240 w 2220525"/>
                    <a:gd name="connsiteY20" fmla="*/ 143285 h 134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220525" h="1347650">
                      <a:moveTo>
                        <a:pt x="2077240" y="143285"/>
                      </a:moveTo>
                      <a:cubicBezTo>
                        <a:pt x="1984686" y="50731"/>
                        <a:pt x="1861926" y="0"/>
                        <a:pt x="1731421" y="0"/>
                      </a:cubicBezTo>
                      <a:lnTo>
                        <a:pt x="659884" y="0"/>
                      </a:lnTo>
                      <a:cubicBezTo>
                        <a:pt x="529379" y="0"/>
                        <a:pt x="406231" y="50731"/>
                        <a:pt x="314065" y="143285"/>
                      </a:cubicBezTo>
                      <a:cubicBezTo>
                        <a:pt x="221511" y="235839"/>
                        <a:pt x="170780" y="358599"/>
                        <a:pt x="170780" y="489104"/>
                      </a:cubicBezTo>
                      <a:lnTo>
                        <a:pt x="170780" y="874424"/>
                      </a:lnTo>
                      <a:cubicBezTo>
                        <a:pt x="170780" y="945679"/>
                        <a:pt x="112692" y="1003767"/>
                        <a:pt x="41437" y="1003767"/>
                      </a:cubicBezTo>
                      <a:lnTo>
                        <a:pt x="21299" y="1003767"/>
                      </a:lnTo>
                      <a:cubicBezTo>
                        <a:pt x="9681" y="1003767"/>
                        <a:pt x="0" y="1013448"/>
                        <a:pt x="0" y="1025066"/>
                      </a:cubicBezTo>
                      <a:cubicBezTo>
                        <a:pt x="0" y="1036684"/>
                        <a:pt x="9681" y="1046365"/>
                        <a:pt x="21299" y="1046365"/>
                      </a:cubicBezTo>
                      <a:lnTo>
                        <a:pt x="41437" y="1046365"/>
                      </a:lnTo>
                      <a:cubicBezTo>
                        <a:pt x="136314" y="1046365"/>
                        <a:pt x="213378" y="969301"/>
                        <a:pt x="213378" y="874424"/>
                      </a:cubicBezTo>
                      <a:lnTo>
                        <a:pt x="213378" y="489104"/>
                      </a:lnTo>
                      <a:cubicBezTo>
                        <a:pt x="213378" y="242809"/>
                        <a:pt x="413589" y="42598"/>
                        <a:pt x="659884" y="42598"/>
                      </a:cubicBezTo>
                      <a:lnTo>
                        <a:pt x="1731421" y="42598"/>
                      </a:lnTo>
                      <a:cubicBezTo>
                        <a:pt x="1977716" y="42598"/>
                        <a:pt x="2177927" y="242809"/>
                        <a:pt x="2177927" y="489104"/>
                      </a:cubicBezTo>
                      <a:lnTo>
                        <a:pt x="2177927" y="1326351"/>
                      </a:lnTo>
                      <a:cubicBezTo>
                        <a:pt x="2177927" y="1337969"/>
                        <a:pt x="2187608" y="1347650"/>
                        <a:pt x="2199226" y="1347650"/>
                      </a:cubicBezTo>
                      <a:cubicBezTo>
                        <a:pt x="2210844" y="1347650"/>
                        <a:pt x="2220525" y="1337969"/>
                        <a:pt x="2220525" y="1326351"/>
                      </a:cubicBezTo>
                      <a:lnTo>
                        <a:pt x="2220525" y="489104"/>
                      </a:lnTo>
                      <a:cubicBezTo>
                        <a:pt x="2220525" y="358599"/>
                        <a:pt x="2169795" y="235839"/>
                        <a:pt x="2077240" y="143285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6" name="Graphic 24">
                <a:extLst>
                  <a:ext uri="{FF2B5EF4-FFF2-40B4-BE49-F238E27FC236}">
                    <a16:creationId xmlns:a16="http://schemas.microsoft.com/office/drawing/2014/main" id="{8ACB47D9-EC8A-867C-68A8-26050EE514E4}"/>
                  </a:ext>
                </a:extLst>
              </p:cNvPr>
              <p:cNvGrpSpPr/>
              <p:nvPr/>
            </p:nvGrpSpPr>
            <p:grpSpPr>
              <a:xfrm>
                <a:off x="2496445" y="2545482"/>
                <a:ext cx="2358476" cy="2050132"/>
                <a:chOff x="2496445" y="2545482"/>
                <a:chExt cx="2358476" cy="2050132"/>
              </a:xfrm>
              <a:grpFill/>
            </p:grpSpPr>
            <p:sp>
              <p:nvSpPr>
                <p:cNvPr id="45" name="Freeform: Shape 20">
                  <a:extLst>
                    <a:ext uri="{FF2B5EF4-FFF2-40B4-BE49-F238E27FC236}">
                      <a16:creationId xmlns:a16="http://schemas.microsoft.com/office/drawing/2014/main" id="{A9BC8960-5569-40BC-50C7-3AF710071045}"/>
                    </a:ext>
                  </a:extLst>
                </p:cNvPr>
                <p:cNvSpPr/>
                <p:nvPr/>
              </p:nvSpPr>
              <p:spPr>
                <a:xfrm>
                  <a:off x="3198551" y="3549248"/>
                  <a:ext cx="1516881" cy="1046365"/>
                </a:xfrm>
                <a:custGeom>
                  <a:avLst/>
                  <a:gdLst>
                    <a:gd name="connsiteX0" fmla="*/ 1495969 w 1516881"/>
                    <a:gd name="connsiteY0" fmla="*/ 0 h 1046365"/>
                    <a:gd name="connsiteX1" fmla="*/ 1477381 w 1516881"/>
                    <a:gd name="connsiteY1" fmla="*/ 0 h 1046365"/>
                    <a:gd name="connsiteX2" fmla="*/ 1305440 w 1516881"/>
                    <a:gd name="connsiteY2" fmla="*/ 171942 h 1046365"/>
                    <a:gd name="connsiteX3" fmla="*/ 1305440 w 1516881"/>
                    <a:gd name="connsiteY3" fmla="*/ 557261 h 1046365"/>
                    <a:gd name="connsiteX4" fmla="*/ 858933 w 1516881"/>
                    <a:gd name="connsiteY4" fmla="*/ 1003767 h 1046365"/>
                    <a:gd name="connsiteX5" fmla="*/ 21299 w 1516881"/>
                    <a:gd name="connsiteY5" fmla="*/ 1003767 h 1046365"/>
                    <a:gd name="connsiteX6" fmla="*/ 0 w 1516881"/>
                    <a:gd name="connsiteY6" fmla="*/ 1025066 h 1046365"/>
                    <a:gd name="connsiteX7" fmla="*/ 21299 w 1516881"/>
                    <a:gd name="connsiteY7" fmla="*/ 1046365 h 1046365"/>
                    <a:gd name="connsiteX8" fmla="*/ 858546 w 1516881"/>
                    <a:gd name="connsiteY8" fmla="*/ 1046365 h 1046365"/>
                    <a:gd name="connsiteX9" fmla="*/ 1204366 w 1516881"/>
                    <a:gd name="connsiteY9" fmla="*/ 903080 h 1046365"/>
                    <a:gd name="connsiteX10" fmla="*/ 1347650 w 1516881"/>
                    <a:gd name="connsiteY10" fmla="*/ 557261 h 1046365"/>
                    <a:gd name="connsiteX11" fmla="*/ 1347650 w 1516881"/>
                    <a:gd name="connsiteY11" fmla="*/ 171942 h 1046365"/>
                    <a:gd name="connsiteX12" fmla="*/ 1476994 w 1516881"/>
                    <a:gd name="connsiteY12" fmla="*/ 42598 h 1046365"/>
                    <a:gd name="connsiteX13" fmla="*/ 1495582 w 1516881"/>
                    <a:gd name="connsiteY13" fmla="*/ 42598 h 1046365"/>
                    <a:gd name="connsiteX14" fmla="*/ 1516881 w 1516881"/>
                    <a:gd name="connsiteY14" fmla="*/ 21299 h 1046365"/>
                    <a:gd name="connsiteX15" fmla="*/ 1495969 w 1516881"/>
                    <a:gd name="connsiteY15" fmla="*/ 0 h 1046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516881" h="1046365">
                      <a:moveTo>
                        <a:pt x="1495969" y="0"/>
                      </a:moveTo>
                      <a:lnTo>
                        <a:pt x="1477381" y="0"/>
                      </a:lnTo>
                      <a:cubicBezTo>
                        <a:pt x="1382503" y="0"/>
                        <a:pt x="1305440" y="77064"/>
                        <a:pt x="1305440" y="171942"/>
                      </a:cubicBezTo>
                      <a:lnTo>
                        <a:pt x="1305440" y="557261"/>
                      </a:lnTo>
                      <a:cubicBezTo>
                        <a:pt x="1305440" y="803556"/>
                        <a:pt x="1105228" y="1003767"/>
                        <a:pt x="858933" y="1003767"/>
                      </a:cubicBezTo>
                      <a:lnTo>
                        <a:pt x="21299" y="1003767"/>
                      </a:lnTo>
                      <a:cubicBezTo>
                        <a:pt x="9681" y="1003767"/>
                        <a:pt x="0" y="1013448"/>
                        <a:pt x="0" y="1025066"/>
                      </a:cubicBezTo>
                      <a:cubicBezTo>
                        <a:pt x="0" y="1036684"/>
                        <a:pt x="9681" y="1046365"/>
                        <a:pt x="21299" y="1046365"/>
                      </a:cubicBezTo>
                      <a:lnTo>
                        <a:pt x="858546" y="1046365"/>
                      </a:lnTo>
                      <a:cubicBezTo>
                        <a:pt x="989051" y="1046365"/>
                        <a:pt x="1112199" y="995635"/>
                        <a:pt x="1204366" y="903080"/>
                      </a:cubicBezTo>
                      <a:cubicBezTo>
                        <a:pt x="1296920" y="810526"/>
                        <a:pt x="1347650" y="687766"/>
                        <a:pt x="1347650" y="557261"/>
                      </a:cubicBezTo>
                      <a:lnTo>
                        <a:pt x="1347650" y="171942"/>
                      </a:lnTo>
                      <a:cubicBezTo>
                        <a:pt x="1347650" y="100687"/>
                        <a:pt x="1405739" y="42598"/>
                        <a:pt x="1476994" y="42598"/>
                      </a:cubicBezTo>
                      <a:lnTo>
                        <a:pt x="1495582" y="42598"/>
                      </a:lnTo>
                      <a:cubicBezTo>
                        <a:pt x="1507200" y="42598"/>
                        <a:pt x="1516881" y="32917"/>
                        <a:pt x="1516881" y="21299"/>
                      </a:cubicBezTo>
                      <a:cubicBezTo>
                        <a:pt x="1516881" y="9681"/>
                        <a:pt x="1507587" y="0"/>
                        <a:pt x="1495969" y="0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6" name="Freeform: Shape 21">
                  <a:extLst>
                    <a:ext uri="{FF2B5EF4-FFF2-40B4-BE49-F238E27FC236}">
                      <a16:creationId xmlns:a16="http://schemas.microsoft.com/office/drawing/2014/main" id="{15E06651-89CB-252C-2B2E-60698894B267}"/>
                    </a:ext>
                  </a:extLst>
                </p:cNvPr>
                <p:cNvSpPr/>
                <p:nvPr/>
              </p:nvSpPr>
              <p:spPr>
                <a:xfrm>
                  <a:off x="2559865" y="4320174"/>
                  <a:ext cx="43574" cy="43860"/>
                </a:xfrm>
                <a:custGeom>
                  <a:avLst/>
                  <a:gdLst>
                    <a:gd name="connsiteX0" fmla="*/ 39601 w 43574"/>
                    <a:gd name="connsiteY0" fmla="*/ 10557 h 43860"/>
                    <a:gd name="connsiteX1" fmla="*/ 10557 w 43574"/>
                    <a:gd name="connsiteY1" fmla="*/ 2812 h 43860"/>
                    <a:gd name="connsiteX2" fmla="*/ 2812 w 43574"/>
                    <a:gd name="connsiteY2" fmla="*/ 31856 h 43860"/>
                    <a:gd name="connsiteX3" fmla="*/ 3586 w 43574"/>
                    <a:gd name="connsiteY3" fmla="*/ 33405 h 43860"/>
                    <a:gd name="connsiteX4" fmla="*/ 22175 w 43574"/>
                    <a:gd name="connsiteY4" fmla="*/ 43861 h 43860"/>
                    <a:gd name="connsiteX5" fmla="*/ 33018 w 43574"/>
                    <a:gd name="connsiteY5" fmla="*/ 40763 h 43860"/>
                    <a:gd name="connsiteX6" fmla="*/ 40763 w 43574"/>
                    <a:gd name="connsiteY6" fmla="*/ 11719 h 43860"/>
                    <a:gd name="connsiteX7" fmla="*/ 39601 w 43574"/>
                    <a:gd name="connsiteY7" fmla="*/ 10557 h 43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574" h="43860">
                      <a:moveTo>
                        <a:pt x="39601" y="10557"/>
                      </a:moveTo>
                      <a:cubicBezTo>
                        <a:pt x="33792" y="488"/>
                        <a:pt x="20626" y="-2997"/>
                        <a:pt x="10557" y="2812"/>
                      </a:cubicBezTo>
                      <a:cubicBezTo>
                        <a:pt x="488" y="8621"/>
                        <a:pt x="-2997" y="21787"/>
                        <a:pt x="2812" y="31856"/>
                      </a:cubicBezTo>
                      <a:lnTo>
                        <a:pt x="3586" y="33405"/>
                      </a:lnTo>
                      <a:cubicBezTo>
                        <a:pt x="7459" y="39988"/>
                        <a:pt x="14817" y="43861"/>
                        <a:pt x="22175" y="43861"/>
                      </a:cubicBezTo>
                      <a:cubicBezTo>
                        <a:pt x="25660" y="43861"/>
                        <a:pt x="29533" y="43086"/>
                        <a:pt x="33018" y="40763"/>
                      </a:cubicBezTo>
                      <a:cubicBezTo>
                        <a:pt x="43086" y="34954"/>
                        <a:pt x="46572" y="21787"/>
                        <a:pt x="40763" y="11719"/>
                      </a:cubicBezTo>
                      <a:lnTo>
                        <a:pt x="39601" y="10557"/>
                      </a:ln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7" name="Freeform: Shape 22">
                  <a:extLst>
                    <a:ext uri="{FF2B5EF4-FFF2-40B4-BE49-F238E27FC236}">
                      <a16:creationId xmlns:a16="http://schemas.microsoft.com/office/drawing/2014/main" id="{B15BA23F-4410-2B2D-0CA0-1B65B2207136}"/>
                    </a:ext>
                  </a:extLst>
                </p:cNvPr>
                <p:cNvSpPr/>
                <p:nvPr/>
              </p:nvSpPr>
              <p:spPr>
                <a:xfrm>
                  <a:off x="2727834" y="4488917"/>
                  <a:ext cx="44048" cy="43186"/>
                </a:xfrm>
                <a:custGeom>
                  <a:avLst/>
                  <a:gdLst>
                    <a:gd name="connsiteX0" fmla="*/ 33118 w 44048"/>
                    <a:gd name="connsiteY0" fmla="*/ 3687 h 43186"/>
                    <a:gd name="connsiteX1" fmla="*/ 31956 w 44048"/>
                    <a:gd name="connsiteY1" fmla="*/ 2912 h 43186"/>
                    <a:gd name="connsiteX2" fmla="*/ 2912 w 44048"/>
                    <a:gd name="connsiteY2" fmla="*/ 10270 h 43186"/>
                    <a:gd name="connsiteX3" fmla="*/ 10270 w 44048"/>
                    <a:gd name="connsiteY3" fmla="*/ 39314 h 43186"/>
                    <a:gd name="connsiteX4" fmla="*/ 11819 w 44048"/>
                    <a:gd name="connsiteY4" fmla="*/ 40089 h 43186"/>
                    <a:gd name="connsiteX5" fmla="*/ 22662 w 44048"/>
                    <a:gd name="connsiteY5" fmla="*/ 43187 h 43186"/>
                    <a:gd name="connsiteX6" fmla="*/ 41251 w 44048"/>
                    <a:gd name="connsiteY6" fmla="*/ 32731 h 43186"/>
                    <a:gd name="connsiteX7" fmla="*/ 33118 w 44048"/>
                    <a:gd name="connsiteY7" fmla="*/ 3687 h 431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4048" h="43186">
                      <a:moveTo>
                        <a:pt x="33118" y="3687"/>
                      </a:moveTo>
                      <a:lnTo>
                        <a:pt x="31956" y="2912"/>
                      </a:lnTo>
                      <a:cubicBezTo>
                        <a:pt x="21888" y="-2897"/>
                        <a:pt x="8721" y="201"/>
                        <a:pt x="2912" y="10270"/>
                      </a:cubicBezTo>
                      <a:cubicBezTo>
                        <a:pt x="-2897" y="20339"/>
                        <a:pt x="201" y="33505"/>
                        <a:pt x="10270" y="39314"/>
                      </a:cubicBezTo>
                      <a:lnTo>
                        <a:pt x="11819" y="40089"/>
                      </a:lnTo>
                      <a:cubicBezTo>
                        <a:pt x="15304" y="42025"/>
                        <a:pt x="18790" y="43187"/>
                        <a:pt x="22662" y="43187"/>
                      </a:cubicBezTo>
                      <a:cubicBezTo>
                        <a:pt x="30020" y="43187"/>
                        <a:pt x="36991" y="39314"/>
                        <a:pt x="41251" y="32731"/>
                      </a:cubicBezTo>
                      <a:cubicBezTo>
                        <a:pt x="47059" y="22662"/>
                        <a:pt x="43574" y="9496"/>
                        <a:pt x="33118" y="3687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8" name="Freeform: Shape 23">
                  <a:extLst>
                    <a:ext uri="{FF2B5EF4-FFF2-40B4-BE49-F238E27FC236}">
                      <a16:creationId xmlns:a16="http://schemas.microsoft.com/office/drawing/2014/main" id="{1FE41872-3438-6157-3A49-31C7E2029C67}"/>
                    </a:ext>
                  </a:extLst>
                </p:cNvPr>
                <p:cNvSpPr/>
                <p:nvPr/>
              </p:nvSpPr>
              <p:spPr>
                <a:xfrm>
                  <a:off x="2496445" y="4090632"/>
                  <a:ext cx="42620" cy="44147"/>
                </a:xfrm>
                <a:custGeom>
                  <a:avLst/>
                  <a:gdLst>
                    <a:gd name="connsiteX0" fmla="*/ 20923 w 42620"/>
                    <a:gd name="connsiteY0" fmla="*/ 0 h 44147"/>
                    <a:gd name="connsiteX1" fmla="*/ 11 w 42620"/>
                    <a:gd name="connsiteY1" fmla="*/ 21686 h 44147"/>
                    <a:gd name="connsiteX2" fmla="*/ 11 w 42620"/>
                    <a:gd name="connsiteY2" fmla="*/ 23235 h 44147"/>
                    <a:gd name="connsiteX3" fmla="*/ 21310 w 42620"/>
                    <a:gd name="connsiteY3" fmla="*/ 44147 h 44147"/>
                    <a:gd name="connsiteX4" fmla="*/ 21698 w 42620"/>
                    <a:gd name="connsiteY4" fmla="*/ 44147 h 44147"/>
                    <a:gd name="connsiteX5" fmla="*/ 42609 w 42620"/>
                    <a:gd name="connsiteY5" fmla="*/ 22461 h 44147"/>
                    <a:gd name="connsiteX6" fmla="*/ 42609 w 42620"/>
                    <a:gd name="connsiteY6" fmla="*/ 20912 h 44147"/>
                    <a:gd name="connsiteX7" fmla="*/ 20923 w 42620"/>
                    <a:gd name="connsiteY7" fmla="*/ 0 h 44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2620" h="44147">
                      <a:moveTo>
                        <a:pt x="20923" y="0"/>
                      </a:moveTo>
                      <a:cubicBezTo>
                        <a:pt x="9305" y="0"/>
                        <a:pt x="-376" y="9681"/>
                        <a:pt x="11" y="21686"/>
                      </a:cubicBezTo>
                      <a:lnTo>
                        <a:pt x="11" y="23235"/>
                      </a:lnTo>
                      <a:cubicBezTo>
                        <a:pt x="11" y="34853"/>
                        <a:pt x="9693" y="44147"/>
                        <a:pt x="21310" y="44147"/>
                      </a:cubicBezTo>
                      <a:cubicBezTo>
                        <a:pt x="21310" y="44147"/>
                        <a:pt x="21698" y="44147"/>
                        <a:pt x="21698" y="44147"/>
                      </a:cubicBezTo>
                      <a:cubicBezTo>
                        <a:pt x="33315" y="44147"/>
                        <a:pt x="42997" y="34466"/>
                        <a:pt x="42609" y="22461"/>
                      </a:cubicBezTo>
                      <a:lnTo>
                        <a:pt x="42609" y="20912"/>
                      </a:lnTo>
                      <a:cubicBezTo>
                        <a:pt x="42609" y="9294"/>
                        <a:pt x="32928" y="0"/>
                        <a:pt x="20923" y="0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9" name="Freeform: Shape 24">
                  <a:extLst>
                    <a:ext uri="{FF2B5EF4-FFF2-40B4-BE49-F238E27FC236}">
                      <a16:creationId xmlns:a16="http://schemas.microsoft.com/office/drawing/2014/main" id="{D8414E7B-E8C3-7899-B6B0-69F3CAC78506}"/>
                    </a:ext>
                  </a:extLst>
                </p:cNvPr>
                <p:cNvSpPr/>
                <p:nvPr/>
              </p:nvSpPr>
              <p:spPr>
                <a:xfrm>
                  <a:off x="2956904" y="4553015"/>
                  <a:ext cx="44147" cy="42598"/>
                </a:xfrm>
                <a:custGeom>
                  <a:avLst/>
                  <a:gdLst>
                    <a:gd name="connsiteX0" fmla="*/ 23235 w 44147"/>
                    <a:gd name="connsiteY0" fmla="*/ 0 h 42598"/>
                    <a:gd name="connsiteX1" fmla="*/ 21686 w 44147"/>
                    <a:gd name="connsiteY1" fmla="*/ 0 h 42598"/>
                    <a:gd name="connsiteX2" fmla="*/ 21299 w 44147"/>
                    <a:gd name="connsiteY2" fmla="*/ 0 h 42598"/>
                    <a:gd name="connsiteX3" fmla="*/ 0 w 44147"/>
                    <a:gd name="connsiteY3" fmla="*/ 20912 h 42598"/>
                    <a:gd name="connsiteX4" fmla="*/ 20912 w 44147"/>
                    <a:gd name="connsiteY4" fmla="*/ 42598 h 42598"/>
                    <a:gd name="connsiteX5" fmla="*/ 22461 w 44147"/>
                    <a:gd name="connsiteY5" fmla="*/ 42598 h 42598"/>
                    <a:gd name="connsiteX6" fmla="*/ 22848 w 44147"/>
                    <a:gd name="connsiteY6" fmla="*/ 42598 h 42598"/>
                    <a:gd name="connsiteX7" fmla="*/ 44147 w 44147"/>
                    <a:gd name="connsiteY7" fmla="*/ 21686 h 42598"/>
                    <a:gd name="connsiteX8" fmla="*/ 23235 w 44147"/>
                    <a:gd name="connsiteY8" fmla="*/ 0 h 42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147" h="42598">
                      <a:moveTo>
                        <a:pt x="23235" y="0"/>
                      </a:moveTo>
                      <a:lnTo>
                        <a:pt x="21686" y="0"/>
                      </a:lnTo>
                      <a:cubicBezTo>
                        <a:pt x="21686" y="0"/>
                        <a:pt x="21299" y="0"/>
                        <a:pt x="21299" y="0"/>
                      </a:cubicBezTo>
                      <a:cubicBezTo>
                        <a:pt x="9681" y="0"/>
                        <a:pt x="0" y="9294"/>
                        <a:pt x="0" y="20912"/>
                      </a:cubicBezTo>
                      <a:cubicBezTo>
                        <a:pt x="0" y="32529"/>
                        <a:pt x="9294" y="42211"/>
                        <a:pt x="20912" y="42598"/>
                      </a:cubicBezTo>
                      <a:lnTo>
                        <a:pt x="22461" y="42598"/>
                      </a:lnTo>
                      <a:cubicBezTo>
                        <a:pt x="22461" y="42598"/>
                        <a:pt x="22461" y="42598"/>
                        <a:pt x="22848" y="42598"/>
                      </a:cubicBezTo>
                      <a:cubicBezTo>
                        <a:pt x="34466" y="42598"/>
                        <a:pt x="44147" y="33304"/>
                        <a:pt x="44147" y="21686"/>
                      </a:cubicBezTo>
                      <a:cubicBezTo>
                        <a:pt x="44147" y="9681"/>
                        <a:pt x="34853" y="0"/>
                        <a:pt x="23235" y="0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0" name="Freeform: Shape 25">
                  <a:extLst>
                    <a:ext uri="{FF2B5EF4-FFF2-40B4-BE49-F238E27FC236}">
                      <a16:creationId xmlns:a16="http://schemas.microsoft.com/office/drawing/2014/main" id="{E216DB2E-00C6-9EF2-DA4A-5342BFEA1DDC}"/>
                    </a:ext>
                  </a:extLst>
                </p:cNvPr>
                <p:cNvSpPr/>
                <p:nvPr/>
              </p:nvSpPr>
              <p:spPr>
                <a:xfrm>
                  <a:off x="2496457" y="2545482"/>
                  <a:ext cx="2050132" cy="1347650"/>
                </a:xfrm>
                <a:custGeom>
                  <a:avLst/>
                  <a:gdLst>
                    <a:gd name="connsiteX0" fmla="*/ 1561028 w 2050132"/>
                    <a:gd name="connsiteY0" fmla="*/ 42598 h 1347650"/>
                    <a:gd name="connsiteX1" fmla="*/ 2007534 w 2050132"/>
                    <a:gd name="connsiteY1" fmla="*/ 489104 h 1347650"/>
                    <a:gd name="connsiteX2" fmla="*/ 2007534 w 2050132"/>
                    <a:gd name="connsiteY2" fmla="*/ 827953 h 1347650"/>
                    <a:gd name="connsiteX3" fmla="*/ 2028833 w 2050132"/>
                    <a:gd name="connsiteY3" fmla="*/ 849252 h 1347650"/>
                    <a:gd name="connsiteX4" fmla="*/ 2050133 w 2050132"/>
                    <a:gd name="connsiteY4" fmla="*/ 827953 h 1347650"/>
                    <a:gd name="connsiteX5" fmla="*/ 2050133 w 2050132"/>
                    <a:gd name="connsiteY5" fmla="*/ 489104 h 1347650"/>
                    <a:gd name="connsiteX6" fmla="*/ 1906848 w 2050132"/>
                    <a:gd name="connsiteY6" fmla="*/ 143285 h 1347650"/>
                    <a:gd name="connsiteX7" fmla="*/ 1561028 w 2050132"/>
                    <a:gd name="connsiteY7" fmla="*/ 0 h 1347650"/>
                    <a:gd name="connsiteX8" fmla="*/ 489104 w 2050132"/>
                    <a:gd name="connsiteY8" fmla="*/ 0 h 1347650"/>
                    <a:gd name="connsiteX9" fmla="*/ 143285 w 2050132"/>
                    <a:gd name="connsiteY9" fmla="*/ 143285 h 1347650"/>
                    <a:gd name="connsiteX10" fmla="*/ 0 w 2050132"/>
                    <a:gd name="connsiteY10" fmla="*/ 489104 h 1347650"/>
                    <a:gd name="connsiteX11" fmla="*/ 0 w 2050132"/>
                    <a:gd name="connsiteY11" fmla="*/ 1326351 h 1347650"/>
                    <a:gd name="connsiteX12" fmla="*/ 21299 w 2050132"/>
                    <a:gd name="connsiteY12" fmla="*/ 1347650 h 1347650"/>
                    <a:gd name="connsiteX13" fmla="*/ 42598 w 2050132"/>
                    <a:gd name="connsiteY13" fmla="*/ 1326351 h 1347650"/>
                    <a:gd name="connsiteX14" fmla="*/ 42598 w 2050132"/>
                    <a:gd name="connsiteY14" fmla="*/ 489104 h 1347650"/>
                    <a:gd name="connsiteX15" fmla="*/ 489104 w 2050132"/>
                    <a:gd name="connsiteY15" fmla="*/ 42598 h 1347650"/>
                    <a:gd name="connsiteX16" fmla="*/ 1561028 w 2050132"/>
                    <a:gd name="connsiteY16" fmla="*/ 42598 h 134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050132" h="1347650">
                      <a:moveTo>
                        <a:pt x="1561028" y="42598"/>
                      </a:moveTo>
                      <a:cubicBezTo>
                        <a:pt x="1807323" y="42598"/>
                        <a:pt x="2007534" y="242809"/>
                        <a:pt x="2007534" y="489104"/>
                      </a:cubicBezTo>
                      <a:lnTo>
                        <a:pt x="2007534" y="827953"/>
                      </a:lnTo>
                      <a:cubicBezTo>
                        <a:pt x="2007534" y="839571"/>
                        <a:pt x="2017216" y="849252"/>
                        <a:pt x="2028833" y="849252"/>
                      </a:cubicBezTo>
                      <a:cubicBezTo>
                        <a:pt x="2040451" y="849252"/>
                        <a:pt x="2050133" y="839571"/>
                        <a:pt x="2050133" y="827953"/>
                      </a:cubicBezTo>
                      <a:lnTo>
                        <a:pt x="2050133" y="489104"/>
                      </a:lnTo>
                      <a:cubicBezTo>
                        <a:pt x="2050133" y="358599"/>
                        <a:pt x="1999402" y="235452"/>
                        <a:pt x="1906848" y="143285"/>
                      </a:cubicBezTo>
                      <a:cubicBezTo>
                        <a:pt x="1814294" y="50731"/>
                        <a:pt x="1691534" y="0"/>
                        <a:pt x="1561028" y="0"/>
                      </a:cubicBezTo>
                      <a:lnTo>
                        <a:pt x="489104" y="0"/>
                      </a:lnTo>
                      <a:cubicBezTo>
                        <a:pt x="358599" y="0"/>
                        <a:pt x="235839" y="50731"/>
                        <a:pt x="143285" y="143285"/>
                      </a:cubicBezTo>
                      <a:cubicBezTo>
                        <a:pt x="50731" y="235839"/>
                        <a:pt x="0" y="358599"/>
                        <a:pt x="0" y="489104"/>
                      </a:cubicBezTo>
                      <a:lnTo>
                        <a:pt x="0" y="1326351"/>
                      </a:lnTo>
                      <a:cubicBezTo>
                        <a:pt x="0" y="1337969"/>
                        <a:pt x="9681" y="1347650"/>
                        <a:pt x="21299" y="1347650"/>
                      </a:cubicBezTo>
                      <a:cubicBezTo>
                        <a:pt x="32917" y="1347650"/>
                        <a:pt x="42598" y="1337969"/>
                        <a:pt x="42598" y="1326351"/>
                      </a:cubicBezTo>
                      <a:lnTo>
                        <a:pt x="42598" y="489104"/>
                      </a:lnTo>
                      <a:cubicBezTo>
                        <a:pt x="42598" y="242809"/>
                        <a:pt x="242809" y="42598"/>
                        <a:pt x="489104" y="42598"/>
                      </a:cubicBezTo>
                      <a:lnTo>
                        <a:pt x="1561028" y="42598"/>
                      </a:ln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1" name="Freeform: Shape 26">
                  <a:extLst>
                    <a:ext uri="{FF2B5EF4-FFF2-40B4-BE49-F238E27FC236}">
                      <a16:creationId xmlns:a16="http://schemas.microsoft.com/office/drawing/2014/main" id="{9369D12E-D95D-70E9-21A3-A37C049619B2}"/>
                    </a:ext>
                  </a:extLst>
                </p:cNvPr>
                <p:cNvSpPr/>
                <p:nvPr/>
              </p:nvSpPr>
              <p:spPr>
                <a:xfrm rot="-2700000">
                  <a:off x="4775455" y="3537665"/>
                  <a:ext cx="65832" cy="65832"/>
                </a:xfrm>
                <a:custGeom>
                  <a:avLst/>
                  <a:gdLst>
                    <a:gd name="connsiteX0" fmla="*/ 65833 w 65832"/>
                    <a:gd name="connsiteY0" fmla="*/ 32916 h 65832"/>
                    <a:gd name="connsiteX1" fmla="*/ 32916 w 65832"/>
                    <a:gd name="connsiteY1" fmla="*/ 65833 h 65832"/>
                    <a:gd name="connsiteX2" fmla="*/ 0 w 65832"/>
                    <a:gd name="connsiteY2" fmla="*/ 32916 h 65832"/>
                    <a:gd name="connsiteX3" fmla="*/ 32916 w 65832"/>
                    <a:gd name="connsiteY3" fmla="*/ 0 h 65832"/>
                    <a:gd name="connsiteX4" fmla="*/ 65833 w 65832"/>
                    <a:gd name="connsiteY4" fmla="*/ 32916 h 65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832" h="65832">
                      <a:moveTo>
                        <a:pt x="65833" y="32916"/>
                      </a:moveTo>
                      <a:cubicBezTo>
                        <a:pt x="65833" y="51096"/>
                        <a:pt x="51096" y="65833"/>
                        <a:pt x="32916" y="65833"/>
                      </a:cubicBezTo>
                      <a:cubicBezTo>
                        <a:pt x="14737" y="65833"/>
                        <a:pt x="0" y="51096"/>
                        <a:pt x="0" y="32916"/>
                      </a:cubicBezTo>
                      <a:cubicBezTo>
                        <a:pt x="0" y="14737"/>
                        <a:pt x="14737" y="0"/>
                        <a:pt x="32916" y="0"/>
                      </a:cubicBezTo>
                      <a:cubicBezTo>
                        <a:pt x="51096" y="0"/>
                        <a:pt x="65833" y="14737"/>
                        <a:pt x="65833" y="32916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7" name="Graphic 24">
                <a:extLst>
                  <a:ext uri="{FF2B5EF4-FFF2-40B4-BE49-F238E27FC236}">
                    <a16:creationId xmlns:a16="http://schemas.microsoft.com/office/drawing/2014/main" id="{D672D81D-9753-461D-A730-8EFC2E5C3754}"/>
                  </a:ext>
                </a:extLst>
              </p:cNvPr>
              <p:cNvGrpSpPr/>
              <p:nvPr/>
            </p:nvGrpSpPr>
            <p:grpSpPr>
              <a:xfrm>
                <a:off x="4896281" y="2545482"/>
                <a:ext cx="2518711" cy="2050132"/>
                <a:chOff x="4896281" y="2545482"/>
                <a:chExt cx="2518711" cy="2050132"/>
              </a:xfrm>
              <a:grpFill/>
            </p:grpSpPr>
            <p:sp>
              <p:nvSpPr>
                <p:cNvPr id="38" name="Freeform: Shape 13">
                  <a:extLst>
                    <a:ext uri="{FF2B5EF4-FFF2-40B4-BE49-F238E27FC236}">
                      <a16:creationId xmlns:a16="http://schemas.microsoft.com/office/drawing/2014/main" id="{EBDCD18D-7AEE-FA93-F62E-BE1167A56F9D}"/>
                    </a:ext>
                  </a:extLst>
                </p:cNvPr>
                <p:cNvSpPr/>
                <p:nvPr/>
              </p:nvSpPr>
              <p:spPr>
                <a:xfrm>
                  <a:off x="6609888" y="2545482"/>
                  <a:ext cx="510403" cy="849251"/>
                </a:xfrm>
                <a:custGeom>
                  <a:avLst/>
                  <a:gdLst>
                    <a:gd name="connsiteX0" fmla="*/ 21299 w 510403"/>
                    <a:gd name="connsiteY0" fmla="*/ 42598 h 849251"/>
                    <a:gd name="connsiteX1" fmla="*/ 467805 w 510403"/>
                    <a:gd name="connsiteY1" fmla="*/ 489104 h 849251"/>
                    <a:gd name="connsiteX2" fmla="*/ 467805 w 510403"/>
                    <a:gd name="connsiteY2" fmla="*/ 827953 h 849251"/>
                    <a:gd name="connsiteX3" fmla="*/ 489104 w 510403"/>
                    <a:gd name="connsiteY3" fmla="*/ 849252 h 849251"/>
                    <a:gd name="connsiteX4" fmla="*/ 510403 w 510403"/>
                    <a:gd name="connsiteY4" fmla="*/ 827953 h 849251"/>
                    <a:gd name="connsiteX5" fmla="*/ 510403 w 510403"/>
                    <a:gd name="connsiteY5" fmla="*/ 489104 h 849251"/>
                    <a:gd name="connsiteX6" fmla="*/ 367119 w 510403"/>
                    <a:gd name="connsiteY6" fmla="*/ 143285 h 849251"/>
                    <a:gd name="connsiteX7" fmla="*/ 21299 w 510403"/>
                    <a:gd name="connsiteY7" fmla="*/ 0 h 849251"/>
                    <a:gd name="connsiteX8" fmla="*/ 0 w 510403"/>
                    <a:gd name="connsiteY8" fmla="*/ 21299 h 849251"/>
                    <a:gd name="connsiteX9" fmla="*/ 21299 w 510403"/>
                    <a:gd name="connsiteY9" fmla="*/ 42598 h 8492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10403" h="849251">
                      <a:moveTo>
                        <a:pt x="21299" y="42598"/>
                      </a:moveTo>
                      <a:cubicBezTo>
                        <a:pt x="267594" y="42598"/>
                        <a:pt x="467805" y="242809"/>
                        <a:pt x="467805" y="489104"/>
                      </a:cubicBezTo>
                      <a:lnTo>
                        <a:pt x="467805" y="827953"/>
                      </a:lnTo>
                      <a:cubicBezTo>
                        <a:pt x="467805" y="839571"/>
                        <a:pt x="477487" y="849252"/>
                        <a:pt x="489104" y="849252"/>
                      </a:cubicBezTo>
                      <a:cubicBezTo>
                        <a:pt x="500722" y="849252"/>
                        <a:pt x="510403" y="839571"/>
                        <a:pt x="510403" y="827953"/>
                      </a:cubicBezTo>
                      <a:lnTo>
                        <a:pt x="510403" y="489104"/>
                      </a:lnTo>
                      <a:cubicBezTo>
                        <a:pt x="510403" y="358599"/>
                        <a:pt x="459673" y="235452"/>
                        <a:pt x="367119" y="143285"/>
                      </a:cubicBezTo>
                      <a:cubicBezTo>
                        <a:pt x="274564" y="50731"/>
                        <a:pt x="151805" y="0"/>
                        <a:pt x="21299" y="0"/>
                      </a:cubicBezTo>
                      <a:cubicBezTo>
                        <a:pt x="9681" y="0"/>
                        <a:pt x="0" y="9681"/>
                        <a:pt x="0" y="21299"/>
                      </a:cubicBezTo>
                      <a:cubicBezTo>
                        <a:pt x="0" y="32917"/>
                        <a:pt x="9294" y="42598"/>
                        <a:pt x="21299" y="42598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14">
                  <a:extLst>
                    <a:ext uri="{FF2B5EF4-FFF2-40B4-BE49-F238E27FC236}">
                      <a16:creationId xmlns:a16="http://schemas.microsoft.com/office/drawing/2014/main" id="{730AEF1D-F9AC-DE3D-A8F4-E0DE1A2D67EF}"/>
                    </a:ext>
                  </a:extLst>
                </p:cNvPr>
                <p:cNvSpPr/>
                <p:nvPr/>
              </p:nvSpPr>
              <p:spPr>
                <a:xfrm>
                  <a:off x="6072764" y="2545482"/>
                  <a:ext cx="44921" cy="42598"/>
                </a:xfrm>
                <a:custGeom>
                  <a:avLst/>
                  <a:gdLst>
                    <a:gd name="connsiteX0" fmla="*/ 21686 w 44921"/>
                    <a:gd name="connsiteY0" fmla="*/ 42598 h 42598"/>
                    <a:gd name="connsiteX1" fmla="*/ 23623 w 44921"/>
                    <a:gd name="connsiteY1" fmla="*/ 42598 h 42598"/>
                    <a:gd name="connsiteX2" fmla="*/ 44922 w 44921"/>
                    <a:gd name="connsiteY2" fmla="*/ 21299 h 42598"/>
                    <a:gd name="connsiteX3" fmla="*/ 23235 w 44921"/>
                    <a:gd name="connsiteY3" fmla="*/ 0 h 42598"/>
                    <a:gd name="connsiteX4" fmla="*/ 21299 w 44921"/>
                    <a:gd name="connsiteY4" fmla="*/ 0 h 42598"/>
                    <a:gd name="connsiteX5" fmla="*/ 0 w 44921"/>
                    <a:gd name="connsiteY5" fmla="*/ 21299 h 42598"/>
                    <a:gd name="connsiteX6" fmla="*/ 21686 w 44921"/>
                    <a:gd name="connsiteY6" fmla="*/ 42598 h 42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4921" h="42598">
                      <a:moveTo>
                        <a:pt x="21686" y="42598"/>
                      </a:moveTo>
                      <a:lnTo>
                        <a:pt x="23623" y="42598"/>
                      </a:lnTo>
                      <a:cubicBezTo>
                        <a:pt x="35240" y="42598"/>
                        <a:pt x="44922" y="32917"/>
                        <a:pt x="44922" y="21299"/>
                      </a:cubicBezTo>
                      <a:cubicBezTo>
                        <a:pt x="44922" y="9681"/>
                        <a:pt x="35240" y="0"/>
                        <a:pt x="23235" y="0"/>
                      </a:cubicBezTo>
                      <a:lnTo>
                        <a:pt x="21299" y="0"/>
                      </a:lnTo>
                      <a:cubicBezTo>
                        <a:pt x="9681" y="0"/>
                        <a:pt x="0" y="9681"/>
                        <a:pt x="0" y="21299"/>
                      </a:cubicBezTo>
                      <a:cubicBezTo>
                        <a:pt x="0" y="32917"/>
                        <a:pt x="10069" y="42598"/>
                        <a:pt x="21686" y="42598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15">
                  <a:extLst>
                    <a:ext uri="{FF2B5EF4-FFF2-40B4-BE49-F238E27FC236}">
                      <a16:creationId xmlns:a16="http://schemas.microsoft.com/office/drawing/2014/main" id="{56D5730D-7684-09F6-FF6C-5259B5741121}"/>
                    </a:ext>
                  </a:extLst>
                </p:cNvPr>
                <p:cNvSpPr/>
                <p:nvPr/>
              </p:nvSpPr>
              <p:spPr>
                <a:xfrm>
                  <a:off x="5805170" y="2545482"/>
                  <a:ext cx="44534" cy="42598"/>
                </a:xfrm>
                <a:custGeom>
                  <a:avLst/>
                  <a:gdLst>
                    <a:gd name="connsiteX0" fmla="*/ 21299 w 44534"/>
                    <a:gd name="connsiteY0" fmla="*/ 42598 h 42598"/>
                    <a:gd name="connsiteX1" fmla="*/ 23235 w 44534"/>
                    <a:gd name="connsiteY1" fmla="*/ 42598 h 42598"/>
                    <a:gd name="connsiteX2" fmla="*/ 44534 w 44534"/>
                    <a:gd name="connsiteY2" fmla="*/ 21299 h 42598"/>
                    <a:gd name="connsiteX3" fmla="*/ 23235 w 44534"/>
                    <a:gd name="connsiteY3" fmla="*/ 0 h 42598"/>
                    <a:gd name="connsiteX4" fmla="*/ 21299 w 44534"/>
                    <a:gd name="connsiteY4" fmla="*/ 0 h 42598"/>
                    <a:gd name="connsiteX5" fmla="*/ 0 w 44534"/>
                    <a:gd name="connsiteY5" fmla="*/ 21299 h 42598"/>
                    <a:gd name="connsiteX6" fmla="*/ 21299 w 44534"/>
                    <a:gd name="connsiteY6" fmla="*/ 42598 h 42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4534" h="42598">
                      <a:moveTo>
                        <a:pt x="21299" y="42598"/>
                      </a:moveTo>
                      <a:lnTo>
                        <a:pt x="23235" y="42598"/>
                      </a:lnTo>
                      <a:cubicBezTo>
                        <a:pt x="34853" y="42598"/>
                        <a:pt x="44534" y="32917"/>
                        <a:pt x="44534" y="21299"/>
                      </a:cubicBezTo>
                      <a:cubicBezTo>
                        <a:pt x="44534" y="9681"/>
                        <a:pt x="34853" y="0"/>
                        <a:pt x="23235" y="0"/>
                      </a:cubicBezTo>
                      <a:lnTo>
                        <a:pt x="21299" y="0"/>
                      </a:lnTo>
                      <a:cubicBezTo>
                        <a:pt x="9681" y="0"/>
                        <a:pt x="0" y="9681"/>
                        <a:pt x="0" y="21299"/>
                      </a:cubicBezTo>
                      <a:cubicBezTo>
                        <a:pt x="0" y="32917"/>
                        <a:pt x="9681" y="42598"/>
                        <a:pt x="21299" y="42598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16">
                  <a:extLst>
                    <a:ext uri="{FF2B5EF4-FFF2-40B4-BE49-F238E27FC236}">
                      <a16:creationId xmlns:a16="http://schemas.microsoft.com/office/drawing/2014/main" id="{1BBCBB14-7351-B507-7DDF-5ABC6F3AFED0}"/>
                    </a:ext>
                  </a:extLst>
                </p:cNvPr>
                <p:cNvSpPr/>
                <p:nvPr/>
              </p:nvSpPr>
              <p:spPr>
                <a:xfrm>
                  <a:off x="6341132" y="2545482"/>
                  <a:ext cx="44534" cy="42598"/>
                </a:xfrm>
                <a:custGeom>
                  <a:avLst/>
                  <a:gdLst>
                    <a:gd name="connsiteX0" fmla="*/ 21299 w 44534"/>
                    <a:gd name="connsiteY0" fmla="*/ 42598 h 42598"/>
                    <a:gd name="connsiteX1" fmla="*/ 23235 w 44534"/>
                    <a:gd name="connsiteY1" fmla="*/ 42598 h 42598"/>
                    <a:gd name="connsiteX2" fmla="*/ 44534 w 44534"/>
                    <a:gd name="connsiteY2" fmla="*/ 21299 h 42598"/>
                    <a:gd name="connsiteX3" fmla="*/ 23235 w 44534"/>
                    <a:gd name="connsiteY3" fmla="*/ 0 h 42598"/>
                    <a:gd name="connsiteX4" fmla="*/ 21299 w 44534"/>
                    <a:gd name="connsiteY4" fmla="*/ 0 h 42598"/>
                    <a:gd name="connsiteX5" fmla="*/ 0 w 44534"/>
                    <a:gd name="connsiteY5" fmla="*/ 21299 h 42598"/>
                    <a:gd name="connsiteX6" fmla="*/ 21299 w 44534"/>
                    <a:gd name="connsiteY6" fmla="*/ 42598 h 42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4534" h="42598">
                      <a:moveTo>
                        <a:pt x="21299" y="42598"/>
                      </a:moveTo>
                      <a:lnTo>
                        <a:pt x="23235" y="42598"/>
                      </a:lnTo>
                      <a:cubicBezTo>
                        <a:pt x="34853" y="42598"/>
                        <a:pt x="44534" y="32917"/>
                        <a:pt x="44534" y="21299"/>
                      </a:cubicBezTo>
                      <a:cubicBezTo>
                        <a:pt x="44534" y="9681"/>
                        <a:pt x="34853" y="0"/>
                        <a:pt x="23235" y="0"/>
                      </a:cubicBezTo>
                      <a:lnTo>
                        <a:pt x="21299" y="0"/>
                      </a:lnTo>
                      <a:cubicBezTo>
                        <a:pt x="9681" y="0"/>
                        <a:pt x="0" y="9681"/>
                        <a:pt x="0" y="21299"/>
                      </a:cubicBezTo>
                      <a:cubicBezTo>
                        <a:pt x="0" y="32917"/>
                        <a:pt x="9294" y="42598"/>
                        <a:pt x="21299" y="42598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17">
                  <a:extLst>
                    <a:ext uri="{FF2B5EF4-FFF2-40B4-BE49-F238E27FC236}">
                      <a16:creationId xmlns:a16="http://schemas.microsoft.com/office/drawing/2014/main" id="{CA8160C5-BB19-7925-3CE7-162A5EDF8F52}"/>
                    </a:ext>
                  </a:extLst>
                </p:cNvPr>
                <p:cNvSpPr/>
                <p:nvPr/>
              </p:nvSpPr>
              <p:spPr>
                <a:xfrm>
                  <a:off x="4896281" y="2545482"/>
                  <a:ext cx="684668" cy="1046365"/>
                </a:xfrm>
                <a:custGeom>
                  <a:avLst/>
                  <a:gdLst>
                    <a:gd name="connsiteX0" fmla="*/ 216476 w 684668"/>
                    <a:gd name="connsiteY0" fmla="*/ 489104 h 1046365"/>
                    <a:gd name="connsiteX1" fmla="*/ 663369 w 684668"/>
                    <a:gd name="connsiteY1" fmla="*/ 42598 h 1046365"/>
                    <a:gd name="connsiteX2" fmla="*/ 684668 w 684668"/>
                    <a:gd name="connsiteY2" fmla="*/ 21299 h 1046365"/>
                    <a:gd name="connsiteX3" fmla="*/ 663369 w 684668"/>
                    <a:gd name="connsiteY3" fmla="*/ 0 h 1046365"/>
                    <a:gd name="connsiteX4" fmla="*/ 317550 w 684668"/>
                    <a:gd name="connsiteY4" fmla="*/ 143285 h 1046365"/>
                    <a:gd name="connsiteX5" fmla="*/ 174265 w 684668"/>
                    <a:gd name="connsiteY5" fmla="*/ 489104 h 1046365"/>
                    <a:gd name="connsiteX6" fmla="*/ 174265 w 684668"/>
                    <a:gd name="connsiteY6" fmla="*/ 874424 h 1046365"/>
                    <a:gd name="connsiteX7" fmla="*/ 44922 w 684668"/>
                    <a:gd name="connsiteY7" fmla="*/ 1003767 h 1046365"/>
                    <a:gd name="connsiteX8" fmla="*/ 21299 w 684668"/>
                    <a:gd name="connsiteY8" fmla="*/ 1003767 h 1046365"/>
                    <a:gd name="connsiteX9" fmla="*/ 0 w 684668"/>
                    <a:gd name="connsiteY9" fmla="*/ 1025066 h 1046365"/>
                    <a:gd name="connsiteX10" fmla="*/ 21299 w 684668"/>
                    <a:gd name="connsiteY10" fmla="*/ 1046365 h 1046365"/>
                    <a:gd name="connsiteX11" fmla="*/ 44922 w 684668"/>
                    <a:gd name="connsiteY11" fmla="*/ 1046365 h 1046365"/>
                    <a:gd name="connsiteX12" fmla="*/ 216863 w 684668"/>
                    <a:gd name="connsiteY12" fmla="*/ 874424 h 1046365"/>
                    <a:gd name="connsiteX13" fmla="*/ 216863 w 684668"/>
                    <a:gd name="connsiteY13" fmla="*/ 489104 h 1046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84668" h="1046365">
                      <a:moveTo>
                        <a:pt x="216476" y="489104"/>
                      </a:moveTo>
                      <a:cubicBezTo>
                        <a:pt x="216476" y="242809"/>
                        <a:pt x="417075" y="42598"/>
                        <a:pt x="663369" y="42598"/>
                      </a:cubicBezTo>
                      <a:cubicBezTo>
                        <a:pt x="674987" y="42598"/>
                        <a:pt x="684668" y="32917"/>
                        <a:pt x="684668" y="21299"/>
                      </a:cubicBezTo>
                      <a:cubicBezTo>
                        <a:pt x="684668" y="9681"/>
                        <a:pt x="674987" y="0"/>
                        <a:pt x="663369" y="0"/>
                      </a:cubicBezTo>
                      <a:cubicBezTo>
                        <a:pt x="532864" y="0"/>
                        <a:pt x="409717" y="50731"/>
                        <a:pt x="317550" y="143285"/>
                      </a:cubicBezTo>
                      <a:cubicBezTo>
                        <a:pt x="224996" y="235839"/>
                        <a:pt x="174265" y="358599"/>
                        <a:pt x="174265" y="489104"/>
                      </a:cubicBezTo>
                      <a:lnTo>
                        <a:pt x="174265" y="874424"/>
                      </a:lnTo>
                      <a:cubicBezTo>
                        <a:pt x="174265" y="945679"/>
                        <a:pt x="116177" y="1003767"/>
                        <a:pt x="44922" y="1003767"/>
                      </a:cubicBezTo>
                      <a:lnTo>
                        <a:pt x="21299" y="1003767"/>
                      </a:lnTo>
                      <a:cubicBezTo>
                        <a:pt x="9681" y="1003767"/>
                        <a:pt x="0" y="1013448"/>
                        <a:pt x="0" y="1025066"/>
                      </a:cubicBezTo>
                      <a:cubicBezTo>
                        <a:pt x="0" y="1036684"/>
                        <a:pt x="9681" y="1046365"/>
                        <a:pt x="21299" y="1046365"/>
                      </a:cubicBezTo>
                      <a:lnTo>
                        <a:pt x="44922" y="1046365"/>
                      </a:lnTo>
                      <a:cubicBezTo>
                        <a:pt x="139799" y="1046365"/>
                        <a:pt x="216863" y="969301"/>
                        <a:pt x="216863" y="874424"/>
                      </a:cubicBezTo>
                      <a:lnTo>
                        <a:pt x="216863" y="489104"/>
                      </a:ln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18">
                  <a:extLst>
                    <a:ext uri="{FF2B5EF4-FFF2-40B4-BE49-F238E27FC236}">
                      <a16:creationId xmlns:a16="http://schemas.microsoft.com/office/drawing/2014/main" id="{655C815B-B69C-083C-7AAE-D690E7D73794}"/>
                    </a:ext>
                  </a:extLst>
                </p:cNvPr>
                <p:cNvSpPr/>
                <p:nvPr/>
              </p:nvSpPr>
              <p:spPr>
                <a:xfrm>
                  <a:off x="5070546" y="3549248"/>
                  <a:ext cx="2218975" cy="1046365"/>
                </a:xfrm>
                <a:custGeom>
                  <a:avLst/>
                  <a:gdLst>
                    <a:gd name="connsiteX0" fmla="*/ 2197677 w 2218975"/>
                    <a:gd name="connsiteY0" fmla="*/ 0 h 1046365"/>
                    <a:gd name="connsiteX1" fmla="*/ 2179089 w 2218975"/>
                    <a:gd name="connsiteY1" fmla="*/ 0 h 1046365"/>
                    <a:gd name="connsiteX2" fmla="*/ 2007147 w 2218975"/>
                    <a:gd name="connsiteY2" fmla="*/ 171942 h 1046365"/>
                    <a:gd name="connsiteX3" fmla="*/ 2007147 w 2218975"/>
                    <a:gd name="connsiteY3" fmla="*/ 557261 h 1046365"/>
                    <a:gd name="connsiteX4" fmla="*/ 1560641 w 2218975"/>
                    <a:gd name="connsiteY4" fmla="*/ 1003767 h 1046365"/>
                    <a:gd name="connsiteX5" fmla="*/ 489104 w 2218975"/>
                    <a:gd name="connsiteY5" fmla="*/ 1003767 h 1046365"/>
                    <a:gd name="connsiteX6" fmla="*/ 42598 w 2218975"/>
                    <a:gd name="connsiteY6" fmla="*/ 557261 h 1046365"/>
                    <a:gd name="connsiteX7" fmla="*/ 42598 w 2218975"/>
                    <a:gd name="connsiteY7" fmla="*/ 218412 h 1046365"/>
                    <a:gd name="connsiteX8" fmla="*/ 21299 w 2218975"/>
                    <a:gd name="connsiteY8" fmla="*/ 197113 h 1046365"/>
                    <a:gd name="connsiteX9" fmla="*/ 0 w 2218975"/>
                    <a:gd name="connsiteY9" fmla="*/ 218412 h 1046365"/>
                    <a:gd name="connsiteX10" fmla="*/ 0 w 2218975"/>
                    <a:gd name="connsiteY10" fmla="*/ 557261 h 1046365"/>
                    <a:gd name="connsiteX11" fmla="*/ 143285 w 2218975"/>
                    <a:gd name="connsiteY11" fmla="*/ 903080 h 1046365"/>
                    <a:gd name="connsiteX12" fmla="*/ 489104 w 2218975"/>
                    <a:gd name="connsiteY12" fmla="*/ 1046365 h 1046365"/>
                    <a:gd name="connsiteX13" fmla="*/ 1560641 w 2218975"/>
                    <a:gd name="connsiteY13" fmla="*/ 1046365 h 1046365"/>
                    <a:gd name="connsiteX14" fmla="*/ 1906460 w 2218975"/>
                    <a:gd name="connsiteY14" fmla="*/ 903080 h 1046365"/>
                    <a:gd name="connsiteX15" fmla="*/ 2049745 w 2218975"/>
                    <a:gd name="connsiteY15" fmla="*/ 557261 h 1046365"/>
                    <a:gd name="connsiteX16" fmla="*/ 2049745 w 2218975"/>
                    <a:gd name="connsiteY16" fmla="*/ 171942 h 1046365"/>
                    <a:gd name="connsiteX17" fmla="*/ 2179089 w 2218975"/>
                    <a:gd name="connsiteY17" fmla="*/ 42598 h 1046365"/>
                    <a:gd name="connsiteX18" fmla="*/ 2197677 w 2218975"/>
                    <a:gd name="connsiteY18" fmla="*/ 42598 h 1046365"/>
                    <a:gd name="connsiteX19" fmla="*/ 2218976 w 2218975"/>
                    <a:gd name="connsiteY19" fmla="*/ 21299 h 1046365"/>
                    <a:gd name="connsiteX20" fmla="*/ 2197677 w 2218975"/>
                    <a:gd name="connsiteY20" fmla="*/ 0 h 1046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218975" h="1046365">
                      <a:moveTo>
                        <a:pt x="2197677" y="0"/>
                      </a:moveTo>
                      <a:lnTo>
                        <a:pt x="2179089" y="0"/>
                      </a:lnTo>
                      <a:cubicBezTo>
                        <a:pt x="2084211" y="0"/>
                        <a:pt x="2007147" y="77064"/>
                        <a:pt x="2007147" y="171942"/>
                      </a:cubicBezTo>
                      <a:lnTo>
                        <a:pt x="2007147" y="557261"/>
                      </a:lnTo>
                      <a:cubicBezTo>
                        <a:pt x="2007147" y="803556"/>
                        <a:pt x="1806936" y="1003767"/>
                        <a:pt x="1560641" y="1003767"/>
                      </a:cubicBezTo>
                      <a:lnTo>
                        <a:pt x="489104" y="1003767"/>
                      </a:lnTo>
                      <a:cubicBezTo>
                        <a:pt x="242809" y="1003767"/>
                        <a:pt x="42598" y="803556"/>
                        <a:pt x="42598" y="557261"/>
                      </a:cubicBezTo>
                      <a:lnTo>
                        <a:pt x="42598" y="218412"/>
                      </a:lnTo>
                      <a:cubicBezTo>
                        <a:pt x="42598" y="206795"/>
                        <a:pt x="32917" y="197113"/>
                        <a:pt x="21299" y="197113"/>
                      </a:cubicBezTo>
                      <a:cubicBezTo>
                        <a:pt x="9681" y="197113"/>
                        <a:pt x="0" y="206795"/>
                        <a:pt x="0" y="218412"/>
                      </a:cubicBezTo>
                      <a:lnTo>
                        <a:pt x="0" y="557261"/>
                      </a:lnTo>
                      <a:cubicBezTo>
                        <a:pt x="0" y="687766"/>
                        <a:pt x="50730" y="810914"/>
                        <a:pt x="143285" y="903080"/>
                      </a:cubicBezTo>
                      <a:cubicBezTo>
                        <a:pt x="235839" y="995635"/>
                        <a:pt x="358599" y="1046365"/>
                        <a:pt x="489104" y="1046365"/>
                      </a:cubicBezTo>
                      <a:lnTo>
                        <a:pt x="1560641" y="1046365"/>
                      </a:lnTo>
                      <a:cubicBezTo>
                        <a:pt x="1691146" y="1046365"/>
                        <a:pt x="1814293" y="995635"/>
                        <a:pt x="1906460" y="903080"/>
                      </a:cubicBezTo>
                      <a:cubicBezTo>
                        <a:pt x="1999015" y="810526"/>
                        <a:pt x="2049745" y="687766"/>
                        <a:pt x="2049745" y="557261"/>
                      </a:cubicBezTo>
                      <a:lnTo>
                        <a:pt x="2049745" y="171942"/>
                      </a:lnTo>
                      <a:cubicBezTo>
                        <a:pt x="2049745" y="100687"/>
                        <a:pt x="2107834" y="42598"/>
                        <a:pt x="2179089" y="42598"/>
                      </a:cubicBezTo>
                      <a:lnTo>
                        <a:pt x="2197677" y="42598"/>
                      </a:lnTo>
                      <a:cubicBezTo>
                        <a:pt x="2209294" y="42598"/>
                        <a:pt x="2218976" y="32917"/>
                        <a:pt x="2218976" y="21299"/>
                      </a:cubicBezTo>
                      <a:cubicBezTo>
                        <a:pt x="2218976" y="9681"/>
                        <a:pt x="2209294" y="0"/>
                        <a:pt x="2197677" y="0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19">
                  <a:extLst>
                    <a:ext uri="{FF2B5EF4-FFF2-40B4-BE49-F238E27FC236}">
                      <a16:creationId xmlns:a16="http://schemas.microsoft.com/office/drawing/2014/main" id="{8BEBB952-5454-F84A-A581-1E43686398E7}"/>
                    </a:ext>
                  </a:extLst>
                </p:cNvPr>
                <p:cNvSpPr/>
                <p:nvPr/>
              </p:nvSpPr>
              <p:spPr>
                <a:xfrm>
                  <a:off x="7349159" y="3537631"/>
                  <a:ext cx="65833" cy="65833"/>
                </a:xfrm>
                <a:custGeom>
                  <a:avLst/>
                  <a:gdLst>
                    <a:gd name="connsiteX0" fmla="*/ 65833 w 65833"/>
                    <a:gd name="connsiteY0" fmla="*/ 32917 h 65833"/>
                    <a:gd name="connsiteX1" fmla="*/ 32917 w 65833"/>
                    <a:gd name="connsiteY1" fmla="*/ 65834 h 65833"/>
                    <a:gd name="connsiteX2" fmla="*/ 0 w 65833"/>
                    <a:gd name="connsiteY2" fmla="*/ 32917 h 65833"/>
                    <a:gd name="connsiteX3" fmla="*/ 32917 w 65833"/>
                    <a:gd name="connsiteY3" fmla="*/ 0 h 65833"/>
                    <a:gd name="connsiteX4" fmla="*/ 65833 w 65833"/>
                    <a:gd name="connsiteY4" fmla="*/ 32917 h 65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833" h="65833">
                      <a:moveTo>
                        <a:pt x="65833" y="32917"/>
                      </a:moveTo>
                      <a:cubicBezTo>
                        <a:pt x="65833" y="51096"/>
                        <a:pt x="51096" y="65834"/>
                        <a:pt x="32917" y="65834"/>
                      </a:cubicBezTo>
                      <a:cubicBezTo>
                        <a:pt x="14737" y="65834"/>
                        <a:pt x="0" y="51096"/>
                        <a:pt x="0" y="32917"/>
                      </a:cubicBezTo>
                      <a:cubicBezTo>
                        <a:pt x="0" y="14737"/>
                        <a:pt x="14737" y="0"/>
                        <a:pt x="32917" y="0"/>
                      </a:cubicBezTo>
                      <a:cubicBezTo>
                        <a:pt x="51096" y="0"/>
                        <a:pt x="65833" y="14737"/>
                        <a:pt x="65833" y="32917"/>
                      </a:cubicBezTo>
                      <a:close/>
                    </a:path>
                  </a:pathLst>
                </a:custGeom>
                <a:grpFill/>
                <a:ln w="386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4" name="Graphic 24">
              <a:extLst>
                <a:ext uri="{FF2B5EF4-FFF2-40B4-BE49-F238E27FC236}">
                  <a16:creationId xmlns:a16="http://schemas.microsoft.com/office/drawing/2014/main" id="{6B2678C7-C3E6-BB1F-A772-9CC2AB696BCF}"/>
                </a:ext>
              </a:extLst>
            </p:cNvPr>
            <p:cNvGrpSpPr/>
            <p:nvPr/>
          </p:nvGrpSpPr>
          <p:grpSpPr>
            <a:xfrm>
              <a:off x="1556184" y="2816237"/>
              <a:ext cx="9079631" cy="2298732"/>
              <a:chOff x="2649035" y="2698060"/>
              <a:chExt cx="6892379" cy="1744974"/>
            </a:xfrm>
            <a:solidFill>
              <a:schemeClr val="tx1"/>
            </a:solidFill>
          </p:grpSpPr>
          <p:sp>
            <p:nvSpPr>
              <p:cNvPr id="24" name="Freeform: Shape 7">
                <a:extLst>
                  <a:ext uri="{FF2B5EF4-FFF2-40B4-BE49-F238E27FC236}">
                    <a16:creationId xmlns:a16="http://schemas.microsoft.com/office/drawing/2014/main" id="{3CFDC9A4-3A27-9FA1-76F8-4F517D36A063}"/>
                  </a:ext>
                </a:extLst>
              </p:cNvPr>
              <p:cNvSpPr/>
              <p:nvPr/>
            </p:nvSpPr>
            <p:spPr>
              <a:xfrm>
                <a:off x="2649035" y="2698060"/>
                <a:ext cx="1744974" cy="1744974"/>
              </a:xfrm>
              <a:custGeom>
                <a:avLst/>
                <a:gdLst>
                  <a:gd name="connsiteX0" fmla="*/ 1391023 w 1744974"/>
                  <a:gd name="connsiteY0" fmla="*/ 0 h 1744974"/>
                  <a:gd name="connsiteX1" fmla="*/ 353952 w 1744974"/>
                  <a:gd name="connsiteY1" fmla="*/ 0 h 1744974"/>
                  <a:gd name="connsiteX2" fmla="*/ 0 w 1744974"/>
                  <a:gd name="connsiteY2" fmla="*/ 353952 h 1744974"/>
                  <a:gd name="connsiteX3" fmla="*/ 0 w 1744974"/>
                  <a:gd name="connsiteY3" fmla="*/ 1391023 h 1744974"/>
                  <a:gd name="connsiteX4" fmla="*/ 353952 w 1744974"/>
                  <a:gd name="connsiteY4" fmla="*/ 1744975 h 1744974"/>
                  <a:gd name="connsiteX5" fmla="*/ 1391023 w 1744974"/>
                  <a:gd name="connsiteY5" fmla="*/ 1744975 h 1744974"/>
                  <a:gd name="connsiteX6" fmla="*/ 1744975 w 1744974"/>
                  <a:gd name="connsiteY6" fmla="*/ 1391023 h 1744974"/>
                  <a:gd name="connsiteX7" fmla="*/ 1744975 w 1744974"/>
                  <a:gd name="connsiteY7" fmla="*/ 353952 h 1744974"/>
                  <a:gd name="connsiteX8" fmla="*/ 1391023 w 1744974"/>
                  <a:gd name="connsiteY8" fmla="*/ 0 h 174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44974" h="1744974">
                    <a:moveTo>
                      <a:pt x="1391023" y="0"/>
                    </a:moveTo>
                    <a:lnTo>
                      <a:pt x="353952" y="0"/>
                    </a:lnTo>
                    <a:cubicBezTo>
                      <a:pt x="158388" y="0"/>
                      <a:pt x="0" y="158388"/>
                      <a:pt x="0" y="353952"/>
                    </a:cubicBezTo>
                    <a:lnTo>
                      <a:pt x="0" y="1391023"/>
                    </a:lnTo>
                    <a:cubicBezTo>
                      <a:pt x="0" y="1586587"/>
                      <a:pt x="158388" y="1744975"/>
                      <a:pt x="353952" y="1744975"/>
                    </a:cubicBezTo>
                    <a:lnTo>
                      <a:pt x="1391023" y="1744975"/>
                    </a:lnTo>
                    <a:cubicBezTo>
                      <a:pt x="1586587" y="1744975"/>
                      <a:pt x="1744975" y="1586587"/>
                      <a:pt x="1744975" y="1391023"/>
                    </a:cubicBezTo>
                    <a:lnTo>
                      <a:pt x="1744975" y="353952"/>
                    </a:lnTo>
                    <a:cubicBezTo>
                      <a:pt x="1744975" y="158388"/>
                      <a:pt x="1586587" y="0"/>
                      <a:pt x="1391023" y="0"/>
                    </a:cubicBezTo>
                    <a:close/>
                  </a:path>
                </a:pathLst>
              </a:custGeom>
              <a:grpFill/>
              <a:ln w="3868" cap="flat">
                <a:solidFill>
                  <a:srgbClr val="DCA52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Raleway" pitchFamily="2" charset="0"/>
                    <a:cs typeface="Poppins Light" panose="00000400000000000000" pitchFamily="2" charset="0"/>
                  </a:rPr>
                  <a:t>Develop a High-Performance Movie Recommendation Engine</a:t>
                </a:r>
              </a:p>
            </p:txBody>
          </p:sp>
          <p:sp>
            <p:nvSpPr>
              <p:cNvPr id="25" name="Freeform: Shape 8">
                <a:extLst>
                  <a:ext uri="{FF2B5EF4-FFF2-40B4-BE49-F238E27FC236}">
                    <a16:creationId xmlns:a16="http://schemas.microsoft.com/office/drawing/2014/main" id="{C7DDA6AC-8A13-65E7-0CAD-69A0D760E934}"/>
                  </a:ext>
                </a:extLst>
              </p:cNvPr>
              <p:cNvSpPr/>
              <p:nvPr/>
            </p:nvSpPr>
            <p:spPr>
              <a:xfrm>
                <a:off x="5222738" y="2698060"/>
                <a:ext cx="1744974" cy="1744974"/>
              </a:xfrm>
              <a:custGeom>
                <a:avLst/>
                <a:gdLst>
                  <a:gd name="connsiteX0" fmla="*/ 1391023 w 1744974"/>
                  <a:gd name="connsiteY0" fmla="*/ 0 h 1744974"/>
                  <a:gd name="connsiteX1" fmla="*/ 353952 w 1744974"/>
                  <a:gd name="connsiteY1" fmla="*/ 0 h 1744974"/>
                  <a:gd name="connsiteX2" fmla="*/ 0 w 1744974"/>
                  <a:gd name="connsiteY2" fmla="*/ 353952 h 1744974"/>
                  <a:gd name="connsiteX3" fmla="*/ 0 w 1744974"/>
                  <a:gd name="connsiteY3" fmla="*/ 1391023 h 1744974"/>
                  <a:gd name="connsiteX4" fmla="*/ 353952 w 1744974"/>
                  <a:gd name="connsiteY4" fmla="*/ 1744975 h 1744974"/>
                  <a:gd name="connsiteX5" fmla="*/ 1391023 w 1744974"/>
                  <a:gd name="connsiteY5" fmla="*/ 1744975 h 1744974"/>
                  <a:gd name="connsiteX6" fmla="*/ 1744975 w 1744974"/>
                  <a:gd name="connsiteY6" fmla="*/ 1391023 h 1744974"/>
                  <a:gd name="connsiteX7" fmla="*/ 1744975 w 1744974"/>
                  <a:gd name="connsiteY7" fmla="*/ 353952 h 1744974"/>
                  <a:gd name="connsiteX8" fmla="*/ 1391023 w 1744974"/>
                  <a:gd name="connsiteY8" fmla="*/ 0 h 174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44974" h="1744974">
                    <a:moveTo>
                      <a:pt x="1391023" y="0"/>
                    </a:moveTo>
                    <a:lnTo>
                      <a:pt x="353952" y="0"/>
                    </a:lnTo>
                    <a:cubicBezTo>
                      <a:pt x="158388" y="0"/>
                      <a:pt x="0" y="158388"/>
                      <a:pt x="0" y="353952"/>
                    </a:cubicBezTo>
                    <a:lnTo>
                      <a:pt x="0" y="1391023"/>
                    </a:lnTo>
                    <a:cubicBezTo>
                      <a:pt x="0" y="1586587"/>
                      <a:pt x="158388" y="1744975"/>
                      <a:pt x="353952" y="1744975"/>
                    </a:cubicBezTo>
                    <a:lnTo>
                      <a:pt x="1391023" y="1744975"/>
                    </a:lnTo>
                    <a:cubicBezTo>
                      <a:pt x="1586587" y="1744975"/>
                      <a:pt x="1744975" y="1586587"/>
                      <a:pt x="1744975" y="1391023"/>
                    </a:cubicBezTo>
                    <a:lnTo>
                      <a:pt x="1744975" y="353952"/>
                    </a:lnTo>
                    <a:cubicBezTo>
                      <a:pt x="1744975" y="158388"/>
                      <a:pt x="1586587" y="0"/>
                      <a:pt x="1391023" y="0"/>
                    </a:cubicBezTo>
                    <a:close/>
                  </a:path>
                </a:pathLst>
              </a:custGeom>
              <a:grpFill/>
              <a:ln w="3868" cap="flat">
                <a:solidFill>
                  <a:srgbClr val="DCA52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Raleway" pitchFamily="2" charset="0"/>
                    <a:cs typeface="Poppins Light" panose="00000400000000000000" pitchFamily="2" charset="0"/>
                  </a:rPr>
                  <a:t>Deliver human-like personalization 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Raleway" pitchFamily="2" charset="0"/>
                    <a:cs typeface="Poppins Light" panose="00000400000000000000" pitchFamily="2" charset="0"/>
                  </a:rPr>
                  <a:t>using AI</a:t>
                </a:r>
              </a:p>
            </p:txBody>
          </p:sp>
          <p:sp>
            <p:nvSpPr>
              <p:cNvPr id="26" name="Freeform: Shape 9">
                <a:extLst>
                  <a:ext uri="{FF2B5EF4-FFF2-40B4-BE49-F238E27FC236}">
                    <a16:creationId xmlns:a16="http://schemas.microsoft.com/office/drawing/2014/main" id="{1FB33F75-41D2-88C9-4B5D-CACADEA2D344}"/>
                  </a:ext>
                </a:extLst>
              </p:cNvPr>
              <p:cNvSpPr/>
              <p:nvPr/>
            </p:nvSpPr>
            <p:spPr>
              <a:xfrm>
                <a:off x="7796440" y="2698060"/>
                <a:ext cx="1744974" cy="1744974"/>
              </a:xfrm>
              <a:custGeom>
                <a:avLst/>
                <a:gdLst>
                  <a:gd name="connsiteX0" fmla="*/ 1391410 w 1744974"/>
                  <a:gd name="connsiteY0" fmla="*/ 0 h 1744974"/>
                  <a:gd name="connsiteX1" fmla="*/ 353952 w 1744974"/>
                  <a:gd name="connsiteY1" fmla="*/ 0 h 1744974"/>
                  <a:gd name="connsiteX2" fmla="*/ 0 w 1744974"/>
                  <a:gd name="connsiteY2" fmla="*/ 353952 h 1744974"/>
                  <a:gd name="connsiteX3" fmla="*/ 0 w 1744974"/>
                  <a:gd name="connsiteY3" fmla="*/ 1391023 h 1744974"/>
                  <a:gd name="connsiteX4" fmla="*/ 353952 w 1744974"/>
                  <a:gd name="connsiteY4" fmla="*/ 1744975 h 1744974"/>
                  <a:gd name="connsiteX5" fmla="*/ 1391023 w 1744974"/>
                  <a:gd name="connsiteY5" fmla="*/ 1744975 h 1744974"/>
                  <a:gd name="connsiteX6" fmla="*/ 1744975 w 1744974"/>
                  <a:gd name="connsiteY6" fmla="*/ 1391023 h 1744974"/>
                  <a:gd name="connsiteX7" fmla="*/ 1744975 w 1744974"/>
                  <a:gd name="connsiteY7" fmla="*/ 353952 h 1744974"/>
                  <a:gd name="connsiteX8" fmla="*/ 1391410 w 1744974"/>
                  <a:gd name="connsiteY8" fmla="*/ 0 h 174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44974" h="1744974">
                    <a:moveTo>
                      <a:pt x="1391410" y="0"/>
                    </a:moveTo>
                    <a:lnTo>
                      <a:pt x="353952" y="0"/>
                    </a:lnTo>
                    <a:cubicBezTo>
                      <a:pt x="158388" y="0"/>
                      <a:pt x="0" y="158388"/>
                      <a:pt x="0" y="353952"/>
                    </a:cubicBezTo>
                    <a:lnTo>
                      <a:pt x="0" y="1391023"/>
                    </a:lnTo>
                    <a:cubicBezTo>
                      <a:pt x="0" y="1586587"/>
                      <a:pt x="158388" y="1744975"/>
                      <a:pt x="353952" y="1744975"/>
                    </a:cubicBezTo>
                    <a:lnTo>
                      <a:pt x="1391023" y="1744975"/>
                    </a:lnTo>
                    <a:cubicBezTo>
                      <a:pt x="1586588" y="1744975"/>
                      <a:pt x="1744975" y="1586587"/>
                      <a:pt x="1744975" y="1391023"/>
                    </a:cubicBezTo>
                    <a:lnTo>
                      <a:pt x="1744975" y="353952"/>
                    </a:lnTo>
                    <a:cubicBezTo>
                      <a:pt x="1744975" y="158388"/>
                      <a:pt x="1586588" y="0"/>
                      <a:pt x="1391410" y="0"/>
                    </a:cubicBezTo>
                    <a:close/>
                  </a:path>
                </a:pathLst>
              </a:custGeom>
              <a:grpFill/>
              <a:ln w="3868" cap="flat">
                <a:solidFill>
                  <a:srgbClr val="DCA52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Raleway" pitchFamily="2" charset="0"/>
                    <a:cs typeface="Poppins Light" panose="00000400000000000000" pitchFamily="2" charset="0"/>
                  </a:rPr>
                  <a:t>Deploy a real, end-to-end machine learning system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4258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977F7-73F8-B93B-DEF2-B2887CC1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3079552-A960-7756-EE28-7F529857EC5E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05EB4D-2DC9-06A9-3A6F-BD65E41D3865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2601427-34EA-1341-0B6E-A3F841090A53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602A8D-91D1-98AF-607A-4A2665E60C05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98C2C76-7010-C428-D38B-759C2DB86327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8040BBE-B778-1024-45A2-F188D4779F43}"/>
              </a:ext>
            </a:extLst>
          </p:cNvPr>
          <p:cNvSpPr txBox="1"/>
          <p:nvPr/>
        </p:nvSpPr>
        <p:spPr>
          <a:xfrm>
            <a:off x="526307" y="514852"/>
            <a:ext cx="10578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Business Problem: Engagement Needs Empathy</a:t>
            </a:r>
            <a:endParaRPr lang="en-PK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BEE00AC9-D232-15E8-774C-344DA6CC41D6}"/>
              </a:ext>
            </a:extLst>
          </p:cNvPr>
          <p:cNvSpPr/>
          <p:nvPr/>
        </p:nvSpPr>
        <p:spPr>
          <a:xfrm>
            <a:off x="8473613" y="1860696"/>
            <a:ext cx="2698577" cy="3912781"/>
          </a:xfrm>
          <a:prstGeom prst="roundRect">
            <a:avLst>
              <a:gd name="adj" fmla="val 4227"/>
            </a:avLst>
          </a:prstGeom>
          <a:blipFill dpi="0" rotWithShape="1">
            <a:blip r:embed="rId3"/>
            <a:srcRect/>
            <a:stretch>
              <a:fillRect/>
            </a:stretch>
          </a:blipFill>
          <a:ln w="28575">
            <a:solidFill>
              <a:srgbClr val="DCA5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Прямоугольник 27">
            <a:extLst>
              <a:ext uri="{FF2B5EF4-FFF2-40B4-BE49-F238E27FC236}">
                <a16:creationId xmlns:a16="http://schemas.microsoft.com/office/drawing/2014/main" id="{987E5F68-9807-2E6B-8E52-2A9072C157DB}"/>
              </a:ext>
            </a:extLst>
          </p:cNvPr>
          <p:cNvSpPr/>
          <p:nvPr/>
        </p:nvSpPr>
        <p:spPr>
          <a:xfrm>
            <a:off x="590104" y="1860697"/>
            <a:ext cx="7022809" cy="3912781"/>
          </a:xfrm>
          <a:prstGeom prst="rect">
            <a:avLst/>
          </a:prstGeom>
          <a:solidFill>
            <a:schemeClr val="tx1"/>
          </a:solidFill>
          <a:ln w="28575">
            <a:solidFill>
              <a:srgbClr val="DCA5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14C3303-F552-D1A9-1827-140A30B3037B}"/>
              </a:ext>
            </a:extLst>
          </p:cNvPr>
          <p:cNvSpPr txBox="1"/>
          <p:nvPr/>
        </p:nvSpPr>
        <p:spPr>
          <a:xfrm>
            <a:off x="752871" y="1961729"/>
            <a:ext cx="3398520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DCA523"/>
                </a:solidFill>
                <a:latin typeface="Raleway ExtraBold" pitchFamily="2" charset="0"/>
              </a:rPr>
              <a:t>Our Ideal Movie</a:t>
            </a:r>
            <a:endParaRPr lang="ru-RU" sz="1200" spc="300" dirty="0">
              <a:solidFill>
                <a:srgbClr val="DCA523"/>
              </a:solidFill>
              <a:latin typeface="Raleway ExtraBold" pitchFamily="2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3389194-A177-FC8A-4B98-DF687E116130}"/>
              </a:ext>
            </a:extLst>
          </p:cNvPr>
          <p:cNvSpPr txBox="1"/>
          <p:nvPr/>
        </p:nvSpPr>
        <p:spPr>
          <a:xfrm>
            <a:off x="752871" y="2432092"/>
            <a:ext cx="6721819" cy="255454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  <a:latin typeface="Raleway" pitchFamily="2" charset="0"/>
              </a:rPr>
              <a:t>Streaming platforms can recommend movies — but they struggle to make users </a:t>
            </a:r>
            <a:r>
              <a:rPr lang="en-US" sz="1600" b="1" dirty="0">
                <a:solidFill>
                  <a:schemeClr val="bg1"/>
                </a:solidFill>
                <a:latin typeface="Raleway" pitchFamily="2" charset="0"/>
              </a:rPr>
              <a:t>feel understood</a:t>
            </a:r>
            <a:r>
              <a:rPr lang="en-US" sz="1600" dirty="0">
                <a:solidFill>
                  <a:schemeClr val="bg1"/>
                </a:solidFill>
                <a:latin typeface="Raleway" pitchFamily="2" charset="0"/>
              </a:rPr>
              <a:t>. With endless content, users disengage when recommendations feel </a:t>
            </a:r>
            <a:r>
              <a:rPr lang="en-US" sz="1600" b="1" dirty="0">
                <a:solidFill>
                  <a:schemeClr val="bg1"/>
                </a:solidFill>
                <a:latin typeface="Raleway" pitchFamily="2" charset="0"/>
              </a:rPr>
              <a:t>generic</a:t>
            </a:r>
            <a:r>
              <a:rPr lang="en-US" sz="1600" dirty="0">
                <a:solidFill>
                  <a:schemeClr val="bg1"/>
                </a:solidFill>
                <a:latin typeface="Raleway" pitchFamily="2" charset="0"/>
              </a:rPr>
              <a:t> or </a:t>
            </a:r>
            <a:r>
              <a:rPr lang="en-US" sz="1600" b="1" dirty="0">
                <a:solidFill>
                  <a:schemeClr val="bg1"/>
                </a:solidFill>
                <a:latin typeface="Raleway" pitchFamily="2" charset="0"/>
              </a:rPr>
              <a:t>algorithmic</a:t>
            </a:r>
            <a:r>
              <a:rPr lang="en-US" sz="1600" dirty="0">
                <a:solidFill>
                  <a:schemeClr val="bg1"/>
                </a:solidFill>
                <a:latin typeface="Raleway" pitchFamily="2" charset="0"/>
              </a:rPr>
              <a:t>. The real challenge is not what to recommend, but </a:t>
            </a:r>
            <a:r>
              <a:rPr lang="en-US" sz="1600" b="1" dirty="0">
                <a:solidFill>
                  <a:schemeClr val="bg1"/>
                </a:solidFill>
                <a:latin typeface="Raleway" pitchFamily="2" charset="0"/>
              </a:rPr>
              <a:t>how it’s communicated</a:t>
            </a:r>
            <a:r>
              <a:rPr lang="en-US" sz="1600" dirty="0">
                <a:solidFill>
                  <a:schemeClr val="bg1"/>
                </a:solidFill>
                <a:latin typeface="Raleway" pitchFamily="2" charset="0"/>
              </a:rPr>
              <a:t>.</a:t>
            </a:r>
          </a:p>
          <a:p>
            <a:pPr algn="just"/>
            <a:endParaRPr lang="en-US" sz="1600" dirty="0">
              <a:solidFill>
                <a:schemeClr val="bg1"/>
              </a:solidFill>
              <a:latin typeface="Raleway" pitchFamily="2" charset="0"/>
            </a:endParaRPr>
          </a:p>
          <a:p>
            <a:pPr algn="just"/>
            <a:r>
              <a:rPr lang="en-US" sz="1600" b="1" dirty="0">
                <a:solidFill>
                  <a:schemeClr val="bg1"/>
                </a:solidFill>
                <a:latin typeface="Raleway" pitchFamily="2" charset="0"/>
              </a:rPr>
              <a:t>Our solution</a:t>
            </a:r>
            <a:r>
              <a:rPr lang="en-US" sz="1600" dirty="0">
                <a:solidFill>
                  <a:schemeClr val="bg1"/>
                </a:solidFill>
                <a:latin typeface="Raleway" pitchFamily="2" charset="0"/>
              </a:rPr>
              <a:t>: Deliver the best possible recommendations, enhanced with empathic, personalized language that: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Raleway" pitchFamily="2" charset="0"/>
              </a:rPr>
              <a:t>Makes users feel personally valued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Raleway" pitchFamily="2" charset="0"/>
              </a:rPr>
              <a:t>Builds trust and emotional connection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Raleway" pitchFamily="2" charset="0"/>
              </a:rPr>
              <a:t>Drives longer sessions and higher engagement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93DD7E5D-BDA0-3FCD-D222-8471C7E954AC}"/>
              </a:ext>
            </a:extLst>
          </p:cNvPr>
          <p:cNvSpPr txBox="1"/>
          <p:nvPr/>
        </p:nvSpPr>
        <p:spPr>
          <a:xfrm>
            <a:off x="3784060" y="5309526"/>
            <a:ext cx="3794591" cy="36933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DCA523"/>
                </a:solidFill>
                <a:latin typeface="Raleway ExtraBold" pitchFamily="2" charset="0"/>
              </a:rPr>
              <a:t>Recommending with empathy.</a:t>
            </a:r>
            <a:endParaRPr lang="ru-RU" sz="1200" spc="300" dirty="0">
              <a:solidFill>
                <a:srgbClr val="DCA523"/>
              </a:solidFill>
              <a:latin typeface="Raleway ExtraBold" pitchFamily="2" charset="0"/>
            </a:endParaRPr>
          </a:p>
        </p:txBody>
      </p:sp>
      <p:sp>
        <p:nvSpPr>
          <p:cNvPr id="21" name="Holder 5">
            <a:extLst>
              <a:ext uri="{FF2B5EF4-FFF2-40B4-BE49-F238E27FC236}">
                <a16:creationId xmlns:a16="http://schemas.microsoft.com/office/drawing/2014/main" id="{59E454FC-B275-6564-3659-35B9590EBB90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22" name="Holder 6">
            <a:extLst>
              <a:ext uri="{FF2B5EF4-FFF2-40B4-BE49-F238E27FC236}">
                <a16:creationId xmlns:a16="http://schemas.microsoft.com/office/drawing/2014/main" id="{299D6734-8046-002B-5733-C4AC5DD97D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3</a:t>
            </a:fld>
            <a:endParaRPr spc="-15" dirty="0"/>
          </a:p>
        </p:txBody>
      </p:sp>
    </p:spTree>
    <p:extLst>
      <p:ext uri="{BB962C8B-B14F-4D97-AF65-F5344CB8AC3E}">
        <p14:creationId xmlns:p14="http://schemas.microsoft.com/office/powerpoint/2010/main" val="2192885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90235-BA81-B68B-A55F-9A59EAB86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: abgerundete Ecken 21">
            <a:hlinkClick r:id="rId3"/>
            <a:extLst>
              <a:ext uri="{FF2B5EF4-FFF2-40B4-BE49-F238E27FC236}">
                <a16:creationId xmlns:a16="http://schemas.microsoft.com/office/drawing/2014/main" id="{E2FE59C5-4B11-CD3E-946E-C24330DFFA15}"/>
              </a:ext>
            </a:extLst>
          </p:cNvPr>
          <p:cNvSpPr/>
          <p:nvPr/>
        </p:nvSpPr>
        <p:spPr>
          <a:xfrm>
            <a:off x="1366063" y="2715629"/>
            <a:ext cx="1387093" cy="2080640"/>
          </a:xfrm>
          <a:prstGeom prst="roundRect">
            <a:avLst>
              <a:gd name="adj" fmla="val 3746"/>
            </a:avLst>
          </a:prstGeom>
          <a:blipFill dpi="0" rotWithShape="1">
            <a:blip r:embed="rId4"/>
            <a:srcRect/>
            <a:stretch>
              <a:fillRect/>
            </a:stretch>
          </a:blipFill>
          <a:ln w="19050">
            <a:solidFill>
              <a:srgbClr val="DCA5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reeform: Shape 116">
            <a:extLst>
              <a:ext uri="{FF2B5EF4-FFF2-40B4-BE49-F238E27FC236}">
                <a16:creationId xmlns:a16="http://schemas.microsoft.com/office/drawing/2014/main" id="{273B9572-C116-BE81-0887-47DAEFCF7E26}"/>
              </a:ext>
            </a:extLst>
          </p:cNvPr>
          <p:cNvSpPr/>
          <p:nvPr/>
        </p:nvSpPr>
        <p:spPr>
          <a:xfrm>
            <a:off x="576356" y="1690406"/>
            <a:ext cx="5281657" cy="4808161"/>
          </a:xfrm>
          <a:prstGeom prst="roundRect">
            <a:avLst>
              <a:gd name="adj" fmla="val 195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  <a:effectLst>
            <a:outerShdw blurRad="1270000" dist="901700" dir="27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7DD8C-3B4A-44C1-2E76-25819AD3F9DB}"/>
              </a:ext>
            </a:extLst>
          </p:cNvPr>
          <p:cNvSpPr txBox="1"/>
          <p:nvPr/>
        </p:nvSpPr>
        <p:spPr>
          <a:xfrm>
            <a:off x="930373" y="1887853"/>
            <a:ext cx="3948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rgbClr val="DCA523"/>
                </a:solidFill>
                <a:latin typeface="Montserrat" panose="00000500000000000000" pitchFamily="2" charset="0"/>
                <a:cs typeface="Poppins" panose="00000500000000000000" pitchFamily="2" charset="0"/>
              </a:rPr>
              <a:t>Example Recommendations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BC645D-2294-6AC4-5259-8D9B7F87509F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9E170E6-181E-7F3A-DE11-2CD0718E35B2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F42142F-6A66-A2A7-43B7-274EF77C257D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0C859C0-41CF-742E-97E9-E8BBAC3EC60E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E2BF400-D512-F015-A1DE-AC81A18F19FA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A5598F-C235-DC38-FBCF-AE8B7E9215CD}"/>
              </a:ext>
            </a:extLst>
          </p:cNvPr>
          <p:cNvSpPr/>
          <p:nvPr/>
        </p:nvSpPr>
        <p:spPr>
          <a:xfrm>
            <a:off x="1057184" y="1694737"/>
            <a:ext cx="4320000" cy="52032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Freeform: Shape 116">
            <a:extLst>
              <a:ext uri="{FF2B5EF4-FFF2-40B4-BE49-F238E27FC236}">
                <a16:creationId xmlns:a16="http://schemas.microsoft.com/office/drawing/2014/main" id="{B701CC9E-0B2E-AF62-8527-929D5E8556BB}"/>
              </a:ext>
            </a:extLst>
          </p:cNvPr>
          <p:cNvSpPr/>
          <p:nvPr/>
        </p:nvSpPr>
        <p:spPr>
          <a:xfrm>
            <a:off x="6326372" y="1690407"/>
            <a:ext cx="5281657" cy="4808161"/>
          </a:xfrm>
          <a:prstGeom prst="roundRect">
            <a:avLst>
              <a:gd name="adj" fmla="val 1954"/>
            </a:avLst>
          </a:prstGeom>
          <a:noFill/>
          <a:ln w="6350">
            <a:solidFill>
              <a:schemeClr val="bg1">
                <a:lumMod val="85000"/>
              </a:schemeClr>
            </a:solidFill>
          </a:ln>
          <a:effectLst>
            <a:outerShdw blurRad="1270000" dist="901700" dir="27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F1EB3D7-33F6-609D-5100-E69EB9DCC864}"/>
              </a:ext>
            </a:extLst>
          </p:cNvPr>
          <p:cNvSpPr/>
          <p:nvPr/>
        </p:nvSpPr>
        <p:spPr>
          <a:xfrm>
            <a:off x="6830924" y="1688686"/>
            <a:ext cx="4320000" cy="52032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8CBBFD-45C5-E773-CDA6-42AD8564DD81}"/>
              </a:ext>
            </a:extLst>
          </p:cNvPr>
          <p:cNvSpPr txBox="1"/>
          <p:nvPr/>
        </p:nvSpPr>
        <p:spPr>
          <a:xfrm>
            <a:off x="526307" y="514852"/>
            <a:ext cx="10578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ML Task: Personalized Movie Recommendation </a:t>
            </a:r>
            <a:endParaRPr lang="en-PK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B7CEE17E-FAF9-4306-0353-962E2D0F8489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16" name="Holder 6">
            <a:extLst>
              <a:ext uri="{FF2B5EF4-FFF2-40B4-BE49-F238E27FC236}">
                <a16:creationId xmlns:a16="http://schemas.microsoft.com/office/drawing/2014/main" id="{275D87C9-22D9-68CE-A597-B662965D6D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4</a:t>
            </a:fld>
            <a:endParaRPr spc="-15" dirty="0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872854C6-AFCB-E84D-4006-339EFC26BBE5}"/>
              </a:ext>
            </a:extLst>
          </p:cNvPr>
          <p:cNvSpPr/>
          <p:nvPr/>
        </p:nvSpPr>
        <p:spPr>
          <a:xfrm>
            <a:off x="3572810" y="2715629"/>
            <a:ext cx="1387093" cy="2080640"/>
          </a:xfrm>
          <a:prstGeom prst="roundRect">
            <a:avLst>
              <a:gd name="adj" fmla="val 3746"/>
            </a:avLst>
          </a:prstGeom>
          <a:blipFill>
            <a:blip r:embed="rId5"/>
            <a:stretch>
              <a:fillRect/>
            </a:stretch>
          </a:blipFill>
          <a:ln w="19050">
            <a:solidFill>
              <a:srgbClr val="DCA5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F5F2FBA5-032C-F936-A597-C6391CF1A91F}"/>
              </a:ext>
            </a:extLst>
          </p:cNvPr>
          <p:cNvSpPr/>
          <p:nvPr/>
        </p:nvSpPr>
        <p:spPr>
          <a:xfrm>
            <a:off x="2407643" y="3449066"/>
            <a:ext cx="1387093" cy="2080640"/>
          </a:xfrm>
          <a:prstGeom prst="roundRect">
            <a:avLst>
              <a:gd name="adj" fmla="val 3746"/>
            </a:avLst>
          </a:prstGeom>
          <a:blipFill>
            <a:blip r:embed="rId6"/>
            <a:stretch>
              <a:fillRect/>
            </a:stretch>
          </a:blipFill>
          <a:ln w="19050">
            <a:solidFill>
              <a:srgbClr val="DCA5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48">
            <a:extLst>
              <a:ext uri="{FF2B5EF4-FFF2-40B4-BE49-F238E27FC236}">
                <a16:creationId xmlns:a16="http://schemas.microsoft.com/office/drawing/2014/main" id="{08CBA52B-A90E-651A-1AB0-803DDB036C36}"/>
              </a:ext>
            </a:extLst>
          </p:cNvPr>
          <p:cNvSpPr txBox="1"/>
          <p:nvPr/>
        </p:nvSpPr>
        <p:spPr>
          <a:xfrm>
            <a:off x="6333989" y="1837334"/>
            <a:ext cx="4863512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>
              <a:spcAft>
                <a:spcPts val="1200"/>
              </a:spcAft>
              <a:buSzPct val="150000"/>
            </a:pPr>
            <a:r>
              <a:rPr lang="en-US" sz="1600" b="1" dirty="0">
                <a:solidFill>
                  <a:srgbClr val="DCA523"/>
                </a:solidFill>
                <a:latin typeface="Montserrat" panose="00000500000000000000" pitchFamily="2" charset="0"/>
                <a:cs typeface="Poppins" panose="00000500000000000000" pitchFamily="2" charset="0"/>
              </a:rPr>
              <a:t>LLM Personalized Message</a:t>
            </a:r>
            <a:endParaRPr lang="en-US" sz="16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92075">
              <a:spcAft>
                <a:spcPts val="1200"/>
              </a:spcAft>
              <a:buSzPct val="150000"/>
            </a:pPr>
            <a:r>
              <a:rPr lang="en-US" sz="13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“Hey there! As a college student like you, I know you're always on the move and could use a mind-bending break. I've got just the thing!  </a:t>
            </a:r>
          </a:p>
          <a:p>
            <a:pPr marL="355600" indent="-263525">
              <a:spcAft>
                <a:spcPts val="1200"/>
              </a:spcAft>
              <a:buSzPct val="150000"/>
              <a:buFont typeface="Poppins Light" panose="00000400000000000000" pitchFamily="2" charset="0"/>
              <a:buChar char="◌"/>
            </a:pPr>
            <a:r>
              <a:rPr lang="en-US" sz="13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Dive into the deep end of imagination with "The Matrix" (1999). This action-packed Sci-Fi thriller will keep you on your toes and leave you questioning reality. </a:t>
            </a:r>
          </a:p>
          <a:p>
            <a:pPr marL="355600" indent="-263525">
              <a:spcAft>
                <a:spcPts val="1200"/>
              </a:spcAft>
              <a:buSzPct val="150000"/>
              <a:buFont typeface="Poppins Light" panose="00000400000000000000" pitchFamily="2" charset="0"/>
              <a:buChar char="◌"/>
            </a:pPr>
            <a:r>
              <a:rPr lang="en-US" sz="13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Or, if intergalactic adventures are more your style, "Star Trek VI: The Undiscovered Country" (1991) offers a mix of action, adventure, and thought-provoking themes that'll make you feel like the captain of your own journey. </a:t>
            </a:r>
          </a:p>
          <a:p>
            <a:pPr marL="355600" indent="-263525">
              <a:spcAft>
                <a:spcPts val="1200"/>
              </a:spcAft>
              <a:buSzPct val="150000"/>
              <a:buFont typeface="Poppins Light" panose="00000400000000000000" pitchFamily="2" charset="0"/>
              <a:buChar char="◌"/>
            </a:pPr>
            <a:r>
              <a:rPr lang="en-US" sz="13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And don't forget about "Star Trek: First Contact" (1996), another thrilling Sci-Fi adventure that's perfect for when you need an escape from the stresses of student life.</a:t>
            </a:r>
          </a:p>
          <a:p>
            <a:pPr marL="92075">
              <a:spcAft>
                <a:spcPts val="1200"/>
              </a:spcAft>
              <a:buSzPct val="150000"/>
            </a:pPr>
            <a:r>
              <a:rPr lang="en-US" sz="13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🌟 Enjoy the ride! 🚀🍿”</a:t>
            </a:r>
            <a:endParaRPr lang="en-AU" sz="13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264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A5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909653-40D5-7843-D34C-55A7E121C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20">
            <a:extLst>
              <a:ext uri="{FF2B5EF4-FFF2-40B4-BE49-F238E27FC236}">
                <a16:creationId xmlns:a16="http://schemas.microsoft.com/office/drawing/2014/main" id="{D81F6AC6-1694-5951-4DD6-A5E95628CB84}"/>
              </a:ext>
            </a:extLst>
          </p:cNvPr>
          <p:cNvSpPr/>
          <p:nvPr/>
        </p:nvSpPr>
        <p:spPr>
          <a:xfrm>
            <a:off x="-22301" y="0"/>
            <a:ext cx="12236599" cy="6074870"/>
          </a:xfrm>
          <a:custGeom>
            <a:avLst/>
            <a:gdLst/>
            <a:ahLst/>
            <a:cxnLst/>
            <a:rect l="l" t="t" r="r" b="b"/>
            <a:pathLst>
              <a:path w="12192000" h="6061075">
                <a:moveTo>
                  <a:pt x="12171045" y="0"/>
                </a:moveTo>
                <a:lnTo>
                  <a:pt x="0" y="0"/>
                </a:lnTo>
                <a:lnTo>
                  <a:pt x="0" y="4717440"/>
                </a:lnTo>
                <a:lnTo>
                  <a:pt x="90431" y="4737866"/>
                </a:lnTo>
                <a:lnTo>
                  <a:pt x="277476" y="4782498"/>
                </a:lnTo>
                <a:lnTo>
                  <a:pt x="459309" y="4828891"/>
                </a:lnTo>
                <a:lnTo>
                  <a:pt x="680153" y="4889061"/>
                </a:lnTo>
                <a:lnTo>
                  <a:pt x="937203" y="4963954"/>
                </a:lnTo>
                <a:lnTo>
                  <a:pt x="1228586" y="5054204"/>
                </a:lnTo>
                <a:lnTo>
                  <a:pt x="2199566" y="5373113"/>
                </a:lnTo>
                <a:lnTo>
                  <a:pt x="2612347" y="5503224"/>
                </a:lnTo>
                <a:lnTo>
                  <a:pt x="2868125" y="5578552"/>
                </a:lnTo>
                <a:lnTo>
                  <a:pt x="3087660" y="5639169"/>
                </a:lnTo>
                <a:lnTo>
                  <a:pt x="3314208" y="5697418"/>
                </a:lnTo>
                <a:lnTo>
                  <a:pt x="3501257" y="5742055"/>
                </a:lnTo>
                <a:lnTo>
                  <a:pt x="3694096" y="5784737"/>
                </a:lnTo>
                <a:lnTo>
                  <a:pt x="3893307" y="5825267"/>
                </a:lnTo>
                <a:lnTo>
                  <a:pt x="4099467" y="5863450"/>
                </a:lnTo>
                <a:lnTo>
                  <a:pt x="4313157" y="5899090"/>
                </a:lnTo>
                <a:lnTo>
                  <a:pt x="4534954" y="5931992"/>
                </a:lnTo>
                <a:lnTo>
                  <a:pt x="4765439" y="5961960"/>
                </a:lnTo>
                <a:lnTo>
                  <a:pt x="5005190" y="5988799"/>
                </a:lnTo>
                <a:lnTo>
                  <a:pt x="5254786" y="6012313"/>
                </a:lnTo>
                <a:lnTo>
                  <a:pt x="5514808" y="6032306"/>
                </a:lnTo>
                <a:lnTo>
                  <a:pt x="5785833" y="6048583"/>
                </a:lnTo>
                <a:lnTo>
                  <a:pt x="6068441" y="6060948"/>
                </a:lnTo>
                <a:lnTo>
                  <a:pt x="6115855" y="6060406"/>
                </a:lnTo>
                <a:lnTo>
                  <a:pt x="6163278" y="6059381"/>
                </a:lnTo>
                <a:lnTo>
                  <a:pt x="6258152" y="6055917"/>
                </a:lnTo>
                <a:lnTo>
                  <a:pt x="6353061" y="6050614"/>
                </a:lnTo>
                <a:lnTo>
                  <a:pt x="6448004" y="6043535"/>
                </a:lnTo>
                <a:lnTo>
                  <a:pt x="6542980" y="6034739"/>
                </a:lnTo>
                <a:lnTo>
                  <a:pt x="6637987" y="6024288"/>
                </a:lnTo>
                <a:lnTo>
                  <a:pt x="6733025" y="6012242"/>
                </a:lnTo>
                <a:lnTo>
                  <a:pt x="6828093" y="5998662"/>
                </a:lnTo>
                <a:lnTo>
                  <a:pt x="6923189" y="5983609"/>
                </a:lnTo>
                <a:lnTo>
                  <a:pt x="7018312" y="5967143"/>
                </a:lnTo>
                <a:lnTo>
                  <a:pt x="7113461" y="5949325"/>
                </a:lnTo>
                <a:lnTo>
                  <a:pt x="7256230" y="5920197"/>
                </a:lnTo>
                <a:lnTo>
                  <a:pt x="7399051" y="5888370"/>
                </a:lnTo>
                <a:lnTo>
                  <a:pt x="7541920" y="5854047"/>
                </a:lnTo>
                <a:lnTo>
                  <a:pt x="7732479" y="5804758"/>
                </a:lnTo>
                <a:lnTo>
                  <a:pt x="7923107" y="5751884"/>
                </a:lnTo>
                <a:lnTo>
                  <a:pt x="8161474" y="5681492"/>
                </a:lnTo>
                <a:lnTo>
                  <a:pt x="8543010" y="5561163"/>
                </a:lnTo>
                <a:lnTo>
                  <a:pt x="9783418" y="5148279"/>
                </a:lnTo>
                <a:lnTo>
                  <a:pt x="10117254" y="5043403"/>
                </a:lnTo>
                <a:lnTo>
                  <a:pt x="10355621" y="4973011"/>
                </a:lnTo>
                <a:lnTo>
                  <a:pt x="10546249" y="4920137"/>
                </a:lnTo>
                <a:lnTo>
                  <a:pt x="10689175" y="4882808"/>
                </a:lnTo>
                <a:lnTo>
                  <a:pt x="10832059" y="4847699"/>
                </a:lnTo>
                <a:lnTo>
                  <a:pt x="10974897" y="4815017"/>
                </a:lnTo>
                <a:lnTo>
                  <a:pt x="11117684" y="4784967"/>
                </a:lnTo>
                <a:lnTo>
                  <a:pt x="11212845" y="4766496"/>
                </a:lnTo>
                <a:lnTo>
                  <a:pt x="11307981" y="4749347"/>
                </a:lnTo>
                <a:lnTo>
                  <a:pt x="11403091" y="4733579"/>
                </a:lnTo>
                <a:lnTo>
                  <a:pt x="11498172" y="4719255"/>
                </a:lnTo>
                <a:lnTo>
                  <a:pt x="11593225" y="4706435"/>
                </a:lnTo>
                <a:lnTo>
                  <a:pt x="11688249" y="4695178"/>
                </a:lnTo>
                <a:lnTo>
                  <a:pt x="11783240" y="4685547"/>
                </a:lnTo>
                <a:lnTo>
                  <a:pt x="11878200" y="4677602"/>
                </a:lnTo>
                <a:lnTo>
                  <a:pt x="11973126" y="4671404"/>
                </a:lnTo>
                <a:lnTo>
                  <a:pt x="12068018" y="4667012"/>
                </a:lnTo>
                <a:lnTo>
                  <a:pt x="12115450" y="4665514"/>
                </a:lnTo>
                <a:lnTo>
                  <a:pt x="12162873" y="4664489"/>
                </a:lnTo>
                <a:lnTo>
                  <a:pt x="12191999" y="4664157"/>
                </a:lnTo>
                <a:lnTo>
                  <a:pt x="12191999" y="2490457"/>
                </a:lnTo>
                <a:lnTo>
                  <a:pt x="121710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FF006E"/>
                  </a:gs>
                  <a:gs pos="100000">
                    <a:srgbClr val="3A86FF"/>
                  </a:gs>
                </a:gsLst>
                <a:lin ang="2700000" scaled="1"/>
              </a:gra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F48345-992F-D39A-D550-AC8CB2EC0A5E}"/>
              </a:ext>
            </a:extLst>
          </p:cNvPr>
          <p:cNvGrpSpPr/>
          <p:nvPr/>
        </p:nvGrpSpPr>
        <p:grpSpPr>
          <a:xfrm>
            <a:off x="5607716" y="2588740"/>
            <a:ext cx="976565" cy="71425"/>
            <a:chOff x="183489" y="687554"/>
            <a:chExt cx="976565" cy="71425"/>
          </a:xfrm>
          <a:solidFill>
            <a:srgbClr val="DCA523"/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6C929D2-A92A-E048-7019-6AD729715426}"/>
                </a:ext>
              </a:extLst>
            </p:cNvPr>
            <p:cNvSpPr/>
            <p:nvPr/>
          </p:nvSpPr>
          <p:spPr>
            <a:xfrm>
              <a:off x="183489" y="687554"/>
              <a:ext cx="288000" cy="7142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F840CDF-84B6-0B7B-CF60-FB617F43B287}"/>
                </a:ext>
              </a:extLst>
            </p:cNvPr>
            <p:cNvSpPr/>
            <p:nvPr/>
          </p:nvSpPr>
          <p:spPr>
            <a:xfrm>
              <a:off x="527772" y="687554"/>
              <a:ext cx="288000" cy="7142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BC70C5C-6364-F12F-2AD7-8F863D7783C0}"/>
                </a:ext>
              </a:extLst>
            </p:cNvPr>
            <p:cNvSpPr/>
            <p:nvPr/>
          </p:nvSpPr>
          <p:spPr>
            <a:xfrm>
              <a:off x="872054" y="687554"/>
              <a:ext cx="288000" cy="7142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296F4BD-8116-62E7-0EEC-9C03076F3007}"/>
              </a:ext>
            </a:extLst>
          </p:cNvPr>
          <p:cNvSpPr txBox="1"/>
          <p:nvPr/>
        </p:nvSpPr>
        <p:spPr>
          <a:xfrm>
            <a:off x="-1" y="2887846"/>
            <a:ext cx="122142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Methodological Deep Dive</a:t>
            </a:r>
            <a:endParaRPr kumimoji="0" lang="en-PK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3" name="Shape 3939">
            <a:extLst>
              <a:ext uri="{FF2B5EF4-FFF2-40B4-BE49-F238E27FC236}">
                <a16:creationId xmlns:a16="http://schemas.microsoft.com/office/drawing/2014/main" id="{596B7B8D-6456-1331-925E-7B39C35DDD46}"/>
              </a:ext>
            </a:extLst>
          </p:cNvPr>
          <p:cNvSpPr/>
          <p:nvPr/>
        </p:nvSpPr>
        <p:spPr>
          <a:xfrm>
            <a:off x="5895716" y="4042347"/>
            <a:ext cx="383398" cy="3833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73" y="235"/>
                </a:moveTo>
                <a:cubicBezTo>
                  <a:pt x="12909" y="205"/>
                  <a:pt x="12839" y="184"/>
                  <a:pt x="12764" y="184"/>
                </a:cubicBezTo>
                <a:cubicBezTo>
                  <a:pt x="12492" y="184"/>
                  <a:pt x="12273" y="405"/>
                  <a:pt x="12273" y="675"/>
                </a:cubicBezTo>
                <a:cubicBezTo>
                  <a:pt x="12273" y="946"/>
                  <a:pt x="12492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5"/>
                  <a:pt x="9107" y="184"/>
                  <a:pt x="8836" y="184"/>
                </a:cubicBezTo>
                <a:cubicBezTo>
                  <a:pt x="8761" y="184"/>
                  <a:pt x="8691" y="205"/>
                  <a:pt x="8626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1" y="9818"/>
                  <a:pt x="6382" y="10038"/>
                  <a:pt x="6382" y="10309"/>
                </a:cubicBezTo>
                <a:cubicBezTo>
                  <a:pt x="6382" y="10445"/>
                  <a:pt x="6436" y="10568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8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4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2" y="9874"/>
                  <a:pt x="7009" y="9818"/>
                  <a:pt x="6873" y="9818"/>
                </a:cubicBezTo>
              </a:path>
            </a:pathLst>
          </a:custGeom>
          <a:solidFill>
            <a:srgbClr val="DCA523"/>
          </a:solidFill>
          <a:ln w="12700">
            <a:solidFill>
              <a:srgbClr val="F89F19"/>
            </a:solidFill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00000"/>
                </a:solidFill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CFCEA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3" name="Picture 9">
            <a:extLst>
              <a:ext uri="{FF2B5EF4-FFF2-40B4-BE49-F238E27FC236}">
                <a16:creationId xmlns:a16="http://schemas.microsoft.com/office/drawing/2014/main" id="{7CAA4298-DAD0-1C36-9F1B-556127A51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9299" y="167337"/>
            <a:ext cx="1413815" cy="2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56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497CB-A822-AC4E-DA99-989774E1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CF12A77-4A28-564A-9047-A0A77C27126C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EDE5942-7601-7FDD-4ABA-E63B623F4709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3715F2-59C7-F7AA-4152-8E1E4C18F2FA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8C0532E-BC52-CDE3-D689-4CC81589E489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EB7919-5E5D-3FDA-17F8-E2F7998B659E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8471FE7-9689-37D3-275E-124835A0C332}"/>
              </a:ext>
            </a:extLst>
          </p:cNvPr>
          <p:cNvSpPr txBox="1"/>
          <p:nvPr/>
        </p:nvSpPr>
        <p:spPr>
          <a:xfrm>
            <a:off x="526307" y="514852"/>
            <a:ext cx="10578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The Architecture: Data Science Meets Empathy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0A840DA2-3C55-99F0-D774-C32A15587B58}"/>
              </a:ext>
            </a:extLst>
          </p:cNvPr>
          <p:cNvSpPr/>
          <p:nvPr/>
        </p:nvSpPr>
        <p:spPr>
          <a:xfrm>
            <a:off x="270784" y="2429752"/>
            <a:ext cx="2293833" cy="2707324"/>
          </a:xfrm>
          <a:prstGeom prst="arc">
            <a:avLst>
              <a:gd name="adj1" fmla="val 10763432"/>
              <a:gd name="adj2" fmla="val 0"/>
            </a:avLst>
          </a:prstGeom>
          <a:noFill/>
          <a:ln w="63500" cap="rnd">
            <a:solidFill>
              <a:schemeClr val="bg1"/>
            </a:solidFill>
            <a:headEnd type="oval"/>
          </a:ln>
          <a:effectLst>
            <a:outerShdw blurRad="228600" dist="1016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EB0E5198-98CC-C3DC-A8F4-7F1D575EDBCF}"/>
              </a:ext>
            </a:extLst>
          </p:cNvPr>
          <p:cNvSpPr/>
          <p:nvPr/>
        </p:nvSpPr>
        <p:spPr>
          <a:xfrm>
            <a:off x="2564617" y="2448173"/>
            <a:ext cx="2293833" cy="2707324"/>
          </a:xfrm>
          <a:prstGeom prst="arc">
            <a:avLst>
              <a:gd name="adj1" fmla="val 10922726"/>
              <a:gd name="adj2" fmla="val 0"/>
            </a:avLst>
          </a:prstGeom>
          <a:noFill/>
          <a:ln w="63500" cap="rnd">
            <a:solidFill>
              <a:schemeClr val="bg1"/>
            </a:solidFill>
          </a:ln>
          <a:effectLst>
            <a:outerShdw blurRad="228600" dist="1016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237B2A03-6561-9B7B-3F5A-2C127E15AC69}"/>
              </a:ext>
            </a:extLst>
          </p:cNvPr>
          <p:cNvSpPr/>
          <p:nvPr/>
        </p:nvSpPr>
        <p:spPr>
          <a:xfrm>
            <a:off x="4871498" y="2466594"/>
            <a:ext cx="2293833" cy="2707324"/>
          </a:xfrm>
          <a:prstGeom prst="arc">
            <a:avLst>
              <a:gd name="adj1" fmla="val 10881839"/>
              <a:gd name="adj2" fmla="val 0"/>
            </a:avLst>
          </a:prstGeom>
          <a:noFill/>
          <a:ln w="63500" cap="rnd">
            <a:solidFill>
              <a:schemeClr val="bg1"/>
            </a:solidFill>
          </a:ln>
          <a:effectLst>
            <a:outerShdw blurRad="228600" dist="1016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3BE5F7C-58F8-B624-CC34-2AD5862A2EFB}"/>
              </a:ext>
            </a:extLst>
          </p:cNvPr>
          <p:cNvSpPr/>
          <p:nvPr/>
        </p:nvSpPr>
        <p:spPr>
          <a:xfrm>
            <a:off x="9456608" y="2458935"/>
            <a:ext cx="2293833" cy="2707324"/>
          </a:xfrm>
          <a:prstGeom prst="arc">
            <a:avLst>
              <a:gd name="adj1" fmla="val 10839970"/>
              <a:gd name="adj2" fmla="val 0"/>
            </a:avLst>
          </a:prstGeom>
          <a:noFill/>
          <a:ln w="63500" cap="rnd">
            <a:solidFill>
              <a:schemeClr val="bg1"/>
            </a:solidFill>
            <a:tailEnd type="oval"/>
          </a:ln>
          <a:effectLst>
            <a:outerShdw blurRad="228600" dist="1016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F57E1D-B405-9C3D-CA4C-7064759AAFA0}"/>
              </a:ext>
            </a:extLst>
          </p:cNvPr>
          <p:cNvSpPr/>
          <p:nvPr/>
        </p:nvSpPr>
        <p:spPr>
          <a:xfrm>
            <a:off x="334677" y="3367268"/>
            <a:ext cx="2214173" cy="204671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DCA523"/>
                </a:solidFill>
                <a:latin typeface="Raleway" pitchFamily="2" charset="0"/>
              </a:rPr>
              <a:t>Data Ingestion</a:t>
            </a:r>
          </a:p>
          <a:p>
            <a:pPr algn="ctr"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MovieLens</a:t>
            </a: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1M dataset processing:</a:t>
            </a: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6,040 users</a:t>
            </a: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3,900 movies</a:t>
            </a: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1M ratings</a:t>
            </a: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  <a:latin typeface="Poppins Light" panose="00000400000000000000" pitchFamily="2" charset="0"/>
              <a:ea typeface="DengXian" panose="02010600030101010101" pitchFamily="2" charset="-122"/>
              <a:cs typeface="Poppins Light" panose="000004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CA5ADC-3A76-53F6-0763-BFD173942C73}"/>
              </a:ext>
            </a:extLst>
          </p:cNvPr>
          <p:cNvSpPr/>
          <p:nvPr/>
        </p:nvSpPr>
        <p:spPr>
          <a:xfrm>
            <a:off x="2678002" y="3414074"/>
            <a:ext cx="2067061" cy="112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Aft>
                <a:spcPts val="600"/>
              </a:spcAft>
            </a:pPr>
            <a:r>
              <a:rPr lang="en-US" sz="2000" b="1" dirty="0">
                <a:solidFill>
                  <a:srgbClr val="DCA523"/>
                </a:solidFill>
                <a:latin typeface="Raleway" pitchFamily="2" charset="0"/>
              </a:rPr>
              <a:t>Preprocessing</a:t>
            </a:r>
          </a:p>
          <a:p>
            <a:pPr algn="ctr" fontAlgn="base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Cleaning data and building the User-Item Matrix</a:t>
            </a:r>
            <a:endParaRPr lang="en-GB" sz="14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9DB883-CFFC-044C-C897-E142A2094D92}"/>
              </a:ext>
            </a:extLst>
          </p:cNvPr>
          <p:cNvSpPr/>
          <p:nvPr/>
        </p:nvSpPr>
        <p:spPr>
          <a:xfrm>
            <a:off x="4790042" y="3432495"/>
            <a:ext cx="2375289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DCA523"/>
                </a:solidFill>
                <a:latin typeface="Raleway" pitchFamily="2" charset="0"/>
              </a:rPr>
              <a:t>Core Engine</a:t>
            </a: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Compared 6 approaches for Collaborative Filtering. </a:t>
            </a: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Selected User-Based CF with Cosine Similarity </a:t>
            </a: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ea typeface="DengXian" panose="02010600030101010101" pitchFamily="2" charset="-122"/>
                <a:cs typeface="Poppins Light" panose="00000400000000000000" pitchFamily="2" charset="0"/>
              </a:rPr>
              <a:t>(5-fold stratified cross-validation)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1E86DC-BC3A-8B43-560A-26C03EDDF573}"/>
              </a:ext>
            </a:extLst>
          </p:cNvPr>
          <p:cNvSpPr/>
          <p:nvPr/>
        </p:nvSpPr>
        <p:spPr>
          <a:xfrm>
            <a:off x="7139709" y="3395319"/>
            <a:ext cx="2342521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dirty="0">
                <a:solidFill>
                  <a:srgbClr val="DCA523"/>
                </a:solidFill>
                <a:latin typeface="Raleway" pitchFamily="2" charset="0"/>
              </a:rPr>
              <a:t>LLM Personalization</a:t>
            </a:r>
            <a:endParaRPr lang="en-US" dirty="0">
              <a:solidFill>
                <a:schemeClr val="bg1"/>
              </a:solidFill>
              <a:latin typeface="Raleway" pitchFamily="2" charset="0"/>
              <a:cs typeface="Poppins Light" panose="00000400000000000000" pitchFamily="2" charset="0"/>
            </a:endParaRP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Ollama API generates personalized human-sounding messages based on demographics</a:t>
            </a:r>
            <a:endParaRPr lang="en-US" sz="2000" b="1" dirty="0">
              <a:solidFill>
                <a:srgbClr val="DCA523"/>
              </a:solidFill>
              <a:latin typeface="Raleway" pitchFamily="2" charset="0"/>
            </a:endParaRPr>
          </a:p>
        </p:txBody>
      </p:sp>
      <p:sp>
        <p:nvSpPr>
          <p:cNvPr id="2" name="Holder 5">
            <a:extLst>
              <a:ext uri="{FF2B5EF4-FFF2-40B4-BE49-F238E27FC236}">
                <a16:creationId xmlns:a16="http://schemas.microsoft.com/office/drawing/2014/main" id="{02FAAAAB-49F9-E1FA-05DC-5BC11572E1AD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19" name="Holder 6">
            <a:extLst>
              <a:ext uri="{FF2B5EF4-FFF2-40B4-BE49-F238E27FC236}">
                <a16:creationId xmlns:a16="http://schemas.microsoft.com/office/drawing/2014/main" id="{DF8D533E-65F1-FA3B-E8FE-92EBA03858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6</a:t>
            </a:fld>
            <a:endParaRPr spc="-15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07F4C25-35B6-0458-18E3-54411D136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255" y="2326834"/>
            <a:ext cx="2816596" cy="1877731"/>
          </a:xfrm>
          <a:prstGeom prst="rect">
            <a:avLst/>
          </a:prstGeom>
        </p:spPr>
      </p:pic>
      <p:sp>
        <p:nvSpPr>
          <p:cNvPr id="20" name="Rectangle 14">
            <a:extLst>
              <a:ext uri="{FF2B5EF4-FFF2-40B4-BE49-F238E27FC236}">
                <a16:creationId xmlns:a16="http://schemas.microsoft.com/office/drawing/2014/main" id="{5D5984A1-FA6E-7E32-8858-D52E4B821450}"/>
              </a:ext>
            </a:extLst>
          </p:cNvPr>
          <p:cNvSpPr/>
          <p:nvPr/>
        </p:nvSpPr>
        <p:spPr>
          <a:xfrm>
            <a:off x="9330054" y="3408127"/>
            <a:ext cx="2342521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DCA523"/>
                </a:solidFill>
                <a:latin typeface="Raleway" pitchFamily="2" charset="0"/>
              </a:rPr>
              <a:t>Deployment</a:t>
            </a:r>
            <a:endParaRPr lang="en-US" sz="1600" b="1" dirty="0">
              <a:solidFill>
                <a:schemeClr val="bg1"/>
              </a:solidFill>
              <a:latin typeface="Montserrat" panose="00000500000000000000" pitchFamily="2" charset="0"/>
              <a:cs typeface="Poppins Light" panose="00000400000000000000" pitchFamily="2" charset="0"/>
            </a:endParaRP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Final output served </a:t>
            </a: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via </a:t>
            </a:r>
            <a:r>
              <a:rPr lang="en-US" sz="1400" dirty="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FastAPI</a:t>
            </a:r>
            <a:endParaRPr lang="en-US" sz="14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63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9DFBC-2236-D92C-1395-19C5CD983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3D40E32-2AC9-15E7-3125-172B699CC826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2D5010-5908-C153-46FD-3E8D0DD6A384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5A6EAB-6DE3-AB57-DC01-1456857F2A05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12E5750-A80F-675A-22B2-A5E890BE5703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E41134-3F3E-E3A3-FFFF-83DD36DF97A7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0C82A46-7CD5-2465-AC4E-708B7ADABB12}"/>
              </a:ext>
            </a:extLst>
          </p:cNvPr>
          <p:cNvSpPr txBox="1"/>
          <p:nvPr/>
        </p:nvSpPr>
        <p:spPr>
          <a:xfrm>
            <a:off x="526307" y="514852"/>
            <a:ext cx="10578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Recommendation Methods Evaluated</a:t>
            </a:r>
          </a:p>
        </p:txBody>
      </p:sp>
      <p:sp>
        <p:nvSpPr>
          <p:cNvPr id="21" name="Holder 5">
            <a:extLst>
              <a:ext uri="{FF2B5EF4-FFF2-40B4-BE49-F238E27FC236}">
                <a16:creationId xmlns:a16="http://schemas.microsoft.com/office/drawing/2014/main" id="{67C74ADF-341E-66DC-9095-170CE32E6271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22" name="Holder 6">
            <a:extLst>
              <a:ext uri="{FF2B5EF4-FFF2-40B4-BE49-F238E27FC236}">
                <a16:creationId xmlns:a16="http://schemas.microsoft.com/office/drawing/2014/main" id="{015A34CA-3BF2-24A7-2E44-FCDE701222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7</a:t>
            </a:fld>
            <a:endParaRPr spc="-15" dirty="0"/>
          </a:p>
        </p:txBody>
      </p:sp>
      <p:pic>
        <p:nvPicPr>
          <p:cNvPr id="2" name="Grafik 1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D5DACEDC-1097-6233-2700-D2865F5B2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788" y="1624264"/>
            <a:ext cx="9192404" cy="458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28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DC42A-8BFC-362E-DE7E-0F3407A0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56460BD-D409-CDA8-EB2C-79604E326428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766B7D-0EA2-D955-1AB6-7E2ED737EA77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4D12A3-53C7-83B9-C88D-1160E0379091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DF78EAF-9CB5-A51B-1B9C-9AFB3FC89BCA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BFB063-80E1-4200-9FB4-B2299812DBC0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11C0BAD-0EA4-F0AA-5C74-E3D594A61DEF}"/>
              </a:ext>
            </a:extLst>
          </p:cNvPr>
          <p:cNvSpPr txBox="1"/>
          <p:nvPr/>
        </p:nvSpPr>
        <p:spPr>
          <a:xfrm>
            <a:off x="526307" y="514852"/>
            <a:ext cx="10578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User-Based CF is the Winner! </a:t>
            </a:r>
          </a:p>
        </p:txBody>
      </p:sp>
      <p:sp>
        <p:nvSpPr>
          <p:cNvPr id="21" name="Holder 5">
            <a:extLst>
              <a:ext uri="{FF2B5EF4-FFF2-40B4-BE49-F238E27FC236}">
                <a16:creationId xmlns:a16="http://schemas.microsoft.com/office/drawing/2014/main" id="{D9AD18E3-FD27-0AB3-57AF-59DE4A689E64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22" name="Holder 6">
            <a:extLst>
              <a:ext uri="{FF2B5EF4-FFF2-40B4-BE49-F238E27FC236}">
                <a16:creationId xmlns:a16="http://schemas.microsoft.com/office/drawing/2014/main" id="{042E9C45-1CDD-4C4E-A182-7886B72455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8</a:t>
            </a:fld>
            <a:endParaRPr spc="-15" dirty="0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95E03C04-DB24-BE0D-55FC-1D0DC5658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918366"/>
              </p:ext>
            </p:extLst>
          </p:nvPr>
        </p:nvGraphicFramePr>
        <p:xfrm>
          <a:off x="765274" y="1785766"/>
          <a:ext cx="10515600" cy="42773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141703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376976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16945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1" dirty="0">
                          <a:solidFill>
                            <a:srgbClr val="FFC000"/>
                          </a:solidFill>
                          <a:effectLst/>
                          <a:latin typeface="Raleway" pitchFamily="2" charset="0"/>
                        </a:rPr>
                        <a:t>CF Approach</a:t>
                      </a:r>
                      <a:endParaRPr lang="de-DE" dirty="0">
                        <a:solidFill>
                          <a:srgbClr val="FFC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1" dirty="0">
                          <a:solidFill>
                            <a:srgbClr val="FFC000"/>
                          </a:solidFill>
                          <a:effectLst/>
                          <a:latin typeface="Raleway" pitchFamily="2" charset="0"/>
                        </a:rPr>
                        <a:t>Outcome</a:t>
                      </a:r>
                      <a:endParaRPr lang="de-DE" dirty="0">
                        <a:solidFill>
                          <a:srgbClr val="FFC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1" dirty="0" err="1">
                          <a:solidFill>
                            <a:srgbClr val="FFC000"/>
                          </a:solidFill>
                          <a:effectLst/>
                          <a:latin typeface="Raleway" pitchFamily="2" charset="0"/>
                        </a:rPr>
                        <a:t>Success</a:t>
                      </a:r>
                      <a:r>
                        <a:rPr lang="de-DE" b="1" dirty="0">
                          <a:solidFill>
                            <a:srgbClr val="FFC000"/>
                          </a:solidFill>
                          <a:effectLst/>
                          <a:latin typeface="Raleway" pitchFamily="2" charset="0"/>
                        </a:rPr>
                        <a:t> </a:t>
                      </a:r>
                      <a:r>
                        <a:rPr lang="de-DE" b="1" dirty="0" err="1">
                          <a:solidFill>
                            <a:srgbClr val="FFC000"/>
                          </a:solidFill>
                          <a:effectLst/>
                          <a:latin typeface="Raleway" pitchFamily="2" charset="0"/>
                        </a:rPr>
                        <a:t>Metric</a:t>
                      </a:r>
                      <a:r>
                        <a:rPr lang="de-DE" b="1" dirty="0">
                          <a:solidFill>
                            <a:srgbClr val="FFC000"/>
                          </a:solidFill>
                          <a:effectLst/>
                          <a:latin typeface="Raleway" pitchFamily="2" charset="0"/>
                        </a:rPr>
                        <a:t> (F1-Score)</a:t>
                      </a:r>
                      <a:endParaRPr lang="de-DE" dirty="0">
                        <a:solidFill>
                          <a:srgbClr val="FFC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38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1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User-</a:t>
                      </a:r>
                      <a:r>
                        <a:rPr lang="de-DE" b="1" dirty="0" err="1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Based</a:t>
                      </a:r>
                      <a:r>
                        <a:rPr lang="de-DE" b="1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 (</a:t>
                      </a:r>
                      <a:r>
                        <a:rPr lang="de-DE" b="1" dirty="0" err="1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Cosine</a:t>
                      </a:r>
                      <a:r>
                        <a:rPr lang="de-DE" b="1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)</a:t>
                      </a:r>
                      <a:endParaRPr lang="de-DE" dirty="0">
                        <a:solidFill>
                          <a:schemeClr val="bg2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Winner:</a:t>
                      </a:r>
                      <a:r>
                        <a:rPr lang="en-US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 Best balance of precision and speed.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1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34%</a:t>
                      </a:r>
                      <a:endParaRPr lang="de-DE" dirty="0">
                        <a:solidFill>
                          <a:schemeClr val="bg2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284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User-</a:t>
                      </a:r>
                      <a:r>
                        <a:rPr lang="de-DE" b="0" dirty="0" err="1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Based</a:t>
                      </a:r>
                      <a:r>
                        <a:rPr lang="de-DE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 (Pearson)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Rejected</a:t>
                      </a:r>
                      <a:r>
                        <a:rPr lang="en-US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: Too slow for real-time (~2.13 </a:t>
                      </a:r>
                      <a:r>
                        <a:rPr lang="en-US" b="0" dirty="0" err="1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hrs</a:t>
                      </a:r>
                      <a:r>
                        <a:rPr lang="en-US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).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5.75%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564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Hybrid (Ratings + Demo)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Cold-Start Solution</a:t>
                      </a:r>
                      <a:r>
                        <a:rPr lang="en-US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: Effective for new users.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4.63%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656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Hybrid (</a:t>
                      </a:r>
                      <a:r>
                        <a:rPr lang="de-DE" b="0" dirty="0" err="1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Heatmap</a:t>
                      </a:r>
                      <a:r>
                        <a:rPr lang="de-DE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Analysis Only</a:t>
                      </a:r>
                      <a:r>
                        <a:rPr lang="en-US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: High complexity in automation.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4.68%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129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Item-</a:t>
                      </a:r>
                      <a:r>
                        <a:rPr lang="de-DE" b="0" dirty="0" err="1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Based</a:t>
                      </a:r>
                      <a:endParaRPr lang="de-DE" b="0" dirty="0">
                        <a:solidFill>
                          <a:schemeClr val="bg2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Rejected</a:t>
                      </a:r>
                      <a:r>
                        <a:rPr lang="en-US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: High latency (~4.4 </a:t>
                      </a:r>
                      <a:r>
                        <a:rPr lang="en-US" b="0" dirty="0" err="1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hrs</a:t>
                      </a:r>
                      <a:r>
                        <a:rPr lang="en-US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).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0.33%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481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Cluster-</a:t>
                      </a:r>
                      <a:r>
                        <a:rPr lang="de-DE" b="0" dirty="0" err="1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Based</a:t>
                      </a:r>
                      <a:endParaRPr lang="de-DE" b="0" dirty="0">
                        <a:solidFill>
                          <a:schemeClr val="bg2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Rejected</a:t>
                      </a:r>
                      <a:r>
                        <a:rPr lang="en-US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: Poor quality due to over-generalization.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DE" b="0" dirty="0">
                          <a:solidFill>
                            <a:schemeClr val="bg2"/>
                          </a:solidFill>
                          <a:effectLst/>
                          <a:latin typeface="Raleway" pitchFamily="2" charset="0"/>
                        </a:rPr>
                        <a:t>0.04%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819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291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8994E-E7FF-17C0-835F-97BDEC22B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C437968-C75C-22CA-701B-7D1D216D5D84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F5B0BB-F45A-E733-9B7F-1B422AAEEB32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F8515C-C1B7-A05B-231C-89040919C416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2D4E4D-8BD0-A8C1-91D8-58DBC52FB2C9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255DCC-B00C-2FAE-8713-C689CFBBE670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9586F34-D69D-3F06-0754-7E6BC9A88AA9}"/>
              </a:ext>
            </a:extLst>
          </p:cNvPr>
          <p:cNvSpPr txBox="1"/>
          <p:nvPr/>
        </p:nvSpPr>
        <p:spPr>
          <a:xfrm>
            <a:off x="526307" y="514852"/>
            <a:ext cx="10578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The Architecture: Data Science Meets Empathy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66780A0F-C527-CB3A-C2B5-BE2ED6825E46}"/>
              </a:ext>
            </a:extLst>
          </p:cNvPr>
          <p:cNvSpPr/>
          <p:nvPr/>
        </p:nvSpPr>
        <p:spPr>
          <a:xfrm>
            <a:off x="270784" y="2429752"/>
            <a:ext cx="2293833" cy="2707324"/>
          </a:xfrm>
          <a:prstGeom prst="arc">
            <a:avLst>
              <a:gd name="adj1" fmla="val 10763432"/>
              <a:gd name="adj2" fmla="val 0"/>
            </a:avLst>
          </a:prstGeom>
          <a:noFill/>
          <a:ln w="63500" cap="rnd">
            <a:solidFill>
              <a:schemeClr val="bg1"/>
            </a:solidFill>
            <a:headEnd type="oval"/>
          </a:ln>
          <a:effectLst>
            <a:outerShdw blurRad="228600" dist="1016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98523F3A-611F-7BE7-4597-6CC052B68DD2}"/>
              </a:ext>
            </a:extLst>
          </p:cNvPr>
          <p:cNvSpPr/>
          <p:nvPr/>
        </p:nvSpPr>
        <p:spPr>
          <a:xfrm>
            <a:off x="2564617" y="2448173"/>
            <a:ext cx="2293833" cy="2707324"/>
          </a:xfrm>
          <a:prstGeom prst="arc">
            <a:avLst>
              <a:gd name="adj1" fmla="val 10922726"/>
              <a:gd name="adj2" fmla="val 0"/>
            </a:avLst>
          </a:prstGeom>
          <a:noFill/>
          <a:ln w="63500" cap="rnd">
            <a:solidFill>
              <a:schemeClr val="bg1"/>
            </a:solidFill>
          </a:ln>
          <a:effectLst>
            <a:outerShdw blurRad="228600" dist="1016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3357BC94-D65B-E6B5-2A7B-7E7CAADD2DB4}"/>
              </a:ext>
            </a:extLst>
          </p:cNvPr>
          <p:cNvSpPr/>
          <p:nvPr/>
        </p:nvSpPr>
        <p:spPr>
          <a:xfrm>
            <a:off x="4871498" y="2466594"/>
            <a:ext cx="2293833" cy="2707324"/>
          </a:xfrm>
          <a:prstGeom prst="arc">
            <a:avLst>
              <a:gd name="adj1" fmla="val 10881839"/>
              <a:gd name="adj2" fmla="val 0"/>
            </a:avLst>
          </a:prstGeom>
          <a:noFill/>
          <a:ln w="63500" cap="rnd">
            <a:solidFill>
              <a:schemeClr val="bg1"/>
            </a:solidFill>
          </a:ln>
          <a:effectLst>
            <a:outerShdw blurRad="228600" dist="1016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9F0ACE8B-2AE2-8149-0871-4E634ED18D4D}"/>
              </a:ext>
            </a:extLst>
          </p:cNvPr>
          <p:cNvSpPr/>
          <p:nvPr/>
        </p:nvSpPr>
        <p:spPr>
          <a:xfrm>
            <a:off x="9456608" y="2458935"/>
            <a:ext cx="2293833" cy="2707324"/>
          </a:xfrm>
          <a:prstGeom prst="arc">
            <a:avLst>
              <a:gd name="adj1" fmla="val 10839970"/>
              <a:gd name="adj2" fmla="val 0"/>
            </a:avLst>
          </a:prstGeom>
          <a:noFill/>
          <a:ln w="63500" cap="rnd">
            <a:solidFill>
              <a:schemeClr val="bg1"/>
            </a:solidFill>
            <a:tailEnd type="oval"/>
          </a:ln>
          <a:effectLst>
            <a:outerShdw blurRad="228600" dist="1016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1E51C4-D43A-8BB8-5E54-79CE234D1F3F}"/>
              </a:ext>
            </a:extLst>
          </p:cNvPr>
          <p:cNvSpPr/>
          <p:nvPr/>
        </p:nvSpPr>
        <p:spPr>
          <a:xfrm>
            <a:off x="334677" y="3367268"/>
            <a:ext cx="2214173" cy="204671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DCA523"/>
                </a:solidFill>
                <a:latin typeface="Raleway" pitchFamily="2" charset="0"/>
              </a:rPr>
              <a:t>Data Ingestion</a:t>
            </a:r>
          </a:p>
          <a:p>
            <a:pPr algn="ctr">
              <a:spcAft>
                <a:spcPts val="600"/>
              </a:spcAft>
            </a:pPr>
            <a:r>
              <a:rPr lang="en-US" sz="1400" dirty="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MovieLens</a:t>
            </a: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1M dataset processing:</a:t>
            </a: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6,040 users</a:t>
            </a: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3,900 movies</a:t>
            </a: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1M ratings</a:t>
            </a: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  <a:latin typeface="Poppins Light" panose="00000400000000000000" pitchFamily="2" charset="0"/>
              <a:ea typeface="DengXian" panose="02010600030101010101" pitchFamily="2" charset="-122"/>
              <a:cs typeface="Poppins Light" panose="000004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A409CB-BDF0-F9A3-1BC2-88BBD44FBE6C}"/>
              </a:ext>
            </a:extLst>
          </p:cNvPr>
          <p:cNvSpPr/>
          <p:nvPr/>
        </p:nvSpPr>
        <p:spPr>
          <a:xfrm>
            <a:off x="2678002" y="3414074"/>
            <a:ext cx="2067061" cy="112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Aft>
                <a:spcPts val="600"/>
              </a:spcAft>
            </a:pPr>
            <a:r>
              <a:rPr lang="en-US" sz="2000" b="1" dirty="0">
                <a:solidFill>
                  <a:srgbClr val="DCA523"/>
                </a:solidFill>
                <a:latin typeface="Raleway" pitchFamily="2" charset="0"/>
              </a:rPr>
              <a:t>Preprocessing</a:t>
            </a:r>
          </a:p>
          <a:p>
            <a:pPr algn="ctr" fontAlgn="base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Cleaning data and building the User-Item Matrix</a:t>
            </a:r>
            <a:endParaRPr lang="en-GB" sz="14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C8EFA5-461D-737A-7C9B-7062315E8965}"/>
              </a:ext>
            </a:extLst>
          </p:cNvPr>
          <p:cNvSpPr/>
          <p:nvPr/>
        </p:nvSpPr>
        <p:spPr>
          <a:xfrm>
            <a:off x="4790042" y="3432495"/>
            <a:ext cx="2375289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DCA523"/>
                </a:solidFill>
                <a:latin typeface="Raleway" pitchFamily="2" charset="0"/>
              </a:rPr>
              <a:t>Core Engine</a:t>
            </a: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Compared 6 approaches for Collaborative Filtering. </a:t>
            </a: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Selected User-Based CF with Cosine Similarity </a:t>
            </a: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ea typeface="DengXian" panose="02010600030101010101" pitchFamily="2" charset="-122"/>
                <a:cs typeface="Poppins Light" panose="00000400000000000000" pitchFamily="2" charset="0"/>
              </a:rPr>
              <a:t>(5-fold stratified cross-validation)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CF8C7A-AE47-A53D-8C4C-DC4A7350B59E}"/>
              </a:ext>
            </a:extLst>
          </p:cNvPr>
          <p:cNvSpPr/>
          <p:nvPr/>
        </p:nvSpPr>
        <p:spPr>
          <a:xfrm>
            <a:off x="7139709" y="3395319"/>
            <a:ext cx="2342521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dirty="0">
                <a:solidFill>
                  <a:srgbClr val="DCA523"/>
                </a:solidFill>
                <a:latin typeface="Raleway" pitchFamily="2" charset="0"/>
              </a:rPr>
              <a:t>LLM Personalization</a:t>
            </a:r>
            <a:endParaRPr lang="en-US" dirty="0">
              <a:solidFill>
                <a:schemeClr val="bg1"/>
              </a:solidFill>
              <a:latin typeface="Raleway" pitchFamily="2" charset="0"/>
              <a:cs typeface="Poppins Light" panose="00000400000000000000" pitchFamily="2" charset="0"/>
            </a:endParaRP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Ollama API generates personalized human-sounding messages based on demographics</a:t>
            </a:r>
            <a:endParaRPr lang="en-US" sz="2000" b="1" dirty="0">
              <a:solidFill>
                <a:srgbClr val="DCA523"/>
              </a:solidFill>
              <a:latin typeface="Raleway" pitchFamily="2" charset="0"/>
            </a:endParaRPr>
          </a:p>
        </p:txBody>
      </p:sp>
      <p:sp>
        <p:nvSpPr>
          <p:cNvPr id="2" name="Holder 5">
            <a:extLst>
              <a:ext uri="{FF2B5EF4-FFF2-40B4-BE49-F238E27FC236}">
                <a16:creationId xmlns:a16="http://schemas.microsoft.com/office/drawing/2014/main" id="{69641718-6D31-718A-86C6-821BFD1C7B8E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19" name="Holder 6">
            <a:extLst>
              <a:ext uri="{FF2B5EF4-FFF2-40B4-BE49-F238E27FC236}">
                <a16:creationId xmlns:a16="http://schemas.microsoft.com/office/drawing/2014/main" id="{EC2FA92F-9570-4A4A-E812-4D46431147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9</a:t>
            </a:fld>
            <a:endParaRPr spc="-15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A7E3524-2D0D-2AFE-207E-C0FBF10AC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255" y="2326834"/>
            <a:ext cx="2816596" cy="1877731"/>
          </a:xfrm>
          <a:prstGeom prst="rect">
            <a:avLst/>
          </a:prstGeom>
        </p:spPr>
      </p:pic>
      <p:sp>
        <p:nvSpPr>
          <p:cNvPr id="20" name="Rectangle 14">
            <a:extLst>
              <a:ext uri="{FF2B5EF4-FFF2-40B4-BE49-F238E27FC236}">
                <a16:creationId xmlns:a16="http://schemas.microsoft.com/office/drawing/2014/main" id="{4A6321EB-904D-5E60-B76F-4FBD6A925750}"/>
              </a:ext>
            </a:extLst>
          </p:cNvPr>
          <p:cNvSpPr/>
          <p:nvPr/>
        </p:nvSpPr>
        <p:spPr>
          <a:xfrm>
            <a:off x="9330054" y="3408127"/>
            <a:ext cx="2342521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b="1" dirty="0">
                <a:solidFill>
                  <a:srgbClr val="DCA523"/>
                </a:solidFill>
                <a:latin typeface="Raleway" pitchFamily="2" charset="0"/>
              </a:rPr>
              <a:t>Deployment</a:t>
            </a:r>
            <a:endParaRPr lang="en-US" sz="1600" b="1" dirty="0">
              <a:solidFill>
                <a:schemeClr val="bg1"/>
              </a:solidFill>
              <a:latin typeface="Montserrat" panose="00000500000000000000" pitchFamily="2" charset="0"/>
              <a:cs typeface="Poppins Light" panose="00000400000000000000" pitchFamily="2" charset="0"/>
            </a:endParaRP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Final output served </a:t>
            </a:r>
          </a:p>
          <a:p>
            <a:pPr algn="ctr"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via </a:t>
            </a:r>
            <a:r>
              <a:rPr lang="en-US" sz="1400" dirty="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FastAPI</a:t>
            </a:r>
            <a:endParaRPr lang="en-US" sz="14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824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, Screenshot, Software, Schrift enthält.&#10;&#10;KI-generierte Inhalte können fehlerhaft sein.">
            <a:extLst>
              <a:ext uri="{FF2B5EF4-FFF2-40B4-BE49-F238E27FC236}">
                <a16:creationId xmlns:a16="http://schemas.microsoft.com/office/drawing/2014/main" id="{9597C274-22AD-C62E-B688-E45ED46CE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07" y="2183806"/>
            <a:ext cx="5822576" cy="2511582"/>
          </a:xfrm>
          <a:prstGeom prst="rect">
            <a:avLst/>
          </a:prstGeom>
        </p:spPr>
      </p:pic>
      <p:pic>
        <p:nvPicPr>
          <p:cNvPr id="8" name="Grafik 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337E9D1B-E36C-50A3-CDA7-59C5DF7E4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32" y="4887640"/>
            <a:ext cx="11665336" cy="171600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3213CD4-B4B9-80CA-A4B1-E93878E0E578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A75F71-8043-F006-82B3-523DD84CA33B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B64A15-F493-45D0-4707-D373AF290B44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53155A-5E44-C43D-57A9-4BD844D58024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8CA1467-FB55-8249-29E2-46F96382872A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5">
            <a:extLst>
              <a:ext uri="{FF2B5EF4-FFF2-40B4-BE49-F238E27FC236}">
                <a16:creationId xmlns:a16="http://schemas.microsoft.com/office/drawing/2014/main" id="{62EC17EC-3318-8EC3-6451-A1EE3FC6B68F}"/>
              </a:ext>
            </a:extLst>
          </p:cNvPr>
          <p:cNvSpPr txBox="1"/>
          <p:nvPr/>
        </p:nvSpPr>
        <p:spPr>
          <a:xfrm>
            <a:off x="526307" y="514852"/>
            <a:ext cx="10578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Deployment with </a:t>
            </a:r>
            <a:r>
              <a:rPr lang="en-US" sz="32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FastAPI</a:t>
            </a:r>
            <a:endParaRPr lang="en-PK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Grafik 3" descr="Ein Bild, das Text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CF48ED89-0FFA-2C08-F9DD-D85E858E1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1844" y="1727762"/>
            <a:ext cx="4885479" cy="912089"/>
          </a:xfrm>
          <a:prstGeom prst="rect">
            <a:avLst/>
          </a:prstGeom>
        </p:spPr>
      </p:pic>
      <p:grpSp>
        <p:nvGrpSpPr>
          <p:cNvPr id="17" name="Group 42">
            <a:extLst>
              <a:ext uri="{FF2B5EF4-FFF2-40B4-BE49-F238E27FC236}">
                <a16:creationId xmlns:a16="http://schemas.microsoft.com/office/drawing/2014/main" id="{4A567035-D196-DA93-098F-5E7259EA33D2}"/>
              </a:ext>
            </a:extLst>
          </p:cNvPr>
          <p:cNvGrpSpPr/>
          <p:nvPr/>
        </p:nvGrpSpPr>
        <p:grpSpPr>
          <a:xfrm>
            <a:off x="7149831" y="1354508"/>
            <a:ext cx="4576864" cy="3211523"/>
            <a:chOff x="845001" y="1798222"/>
            <a:chExt cx="3136803" cy="3926304"/>
          </a:xfrm>
        </p:grpSpPr>
        <p:grpSp>
          <p:nvGrpSpPr>
            <p:cNvPr id="18" name="Group 8">
              <a:extLst>
                <a:ext uri="{FF2B5EF4-FFF2-40B4-BE49-F238E27FC236}">
                  <a16:creationId xmlns:a16="http://schemas.microsoft.com/office/drawing/2014/main" id="{0A28B011-CEEC-0398-7040-68D8CC859500}"/>
                </a:ext>
              </a:extLst>
            </p:cNvPr>
            <p:cNvGrpSpPr/>
            <p:nvPr/>
          </p:nvGrpSpPr>
          <p:grpSpPr>
            <a:xfrm>
              <a:off x="845001" y="1798222"/>
              <a:ext cx="3136803" cy="3926304"/>
              <a:chOff x="443864" y="1902997"/>
              <a:chExt cx="2693618" cy="3371573"/>
            </a:xfrm>
          </p:grpSpPr>
          <p:sp>
            <p:nvSpPr>
              <p:cNvPr id="21" name="Rectangle: Rounded Corners 29">
                <a:extLst>
                  <a:ext uri="{FF2B5EF4-FFF2-40B4-BE49-F238E27FC236}">
                    <a16:creationId xmlns:a16="http://schemas.microsoft.com/office/drawing/2014/main" id="{CA068C46-6838-5489-119A-640D42D1CF8B}"/>
                  </a:ext>
                </a:extLst>
              </p:cNvPr>
              <p:cNvSpPr/>
              <p:nvPr/>
            </p:nvSpPr>
            <p:spPr>
              <a:xfrm>
                <a:off x="443864" y="2028847"/>
                <a:ext cx="2693618" cy="3245723"/>
              </a:xfrm>
              <a:prstGeom prst="roundRect">
                <a:avLst>
                  <a:gd name="adj" fmla="val 7576"/>
                </a:avLst>
              </a:prstGeom>
              <a:solidFill>
                <a:schemeClr val="tx1"/>
              </a:solidFill>
              <a:ln>
                <a:solidFill>
                  <a:srgbClr val="DCA523"/>
                </a:solidFill>
              </a:ln>
              <a:effectLst>
                <a:outerShdw blurRad="2032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" name="Group 30">
                <a:extLst>
                  <a:ext uri="{FF2B5EF4-FFF2-40B4-BE49-F238E27FC236}">
                    <a16:creationId xmlns:a16="http://schemas.microsoft.com/office/drawing/2014/main" id="{BC0DAA0B-900A-4541-6C34-7535584833BC}"/>
                  </a:ext>
                </a:extLst>
              </p:cNvPr>
              <p:cNvGrpSpPr/>
              <p:nvPr/>
            </p:nvGrpSpPr>
            <p:grpSpPr>
              <a:xfrm>
                <a:off x="1141673" y="1902997"/>
                <a:ext cx="1298000" cy="836323"/>
                <a:chOff x="1320266" y="1902997"/>
                <a:chExt cx="1298000" cy="836323"/>
              </a:xfrm>
            </p:grpSpPr>
            <p:sp>
              <p:nvSpPr>
                <p:cNvPr id="23" name="Freeform: Shape 31">
                  <a:extLst>
                    <a:ext uri="{FF2B5EF4-FFF2-40B4-BE49-F238E27FC236}">
                      <a16:creationId xmlns:a16="http://schemas.microsoft.com/office/drawing/2014/main" id="{7E04AA04-D16E-D94A-F665-CAA216E24448}"/>
                    </a:ext>
                  </a:extLst>
                </p:cNvPr>
                <p:cNvSpPr/>
                <p:nvPr/>
              </p:nvSpPr>
              <p:spPr>
                <a:xfrm rot="1893790" flipH="1">
                  <a:off x="1320266" y="1943434"/>
                  <a:ext cx="184412" cy="144355"/>
                </a:xfrm>
                <a:custGeom>
                  <a:avLst/>
                  <a:gdLst>
                    <a:gd name="connsiteX0" fmla="*/ 184935 w 184935"/>
                    <a:gd name="connsiteY0" fmla="*/ 0 h 144764"/>
                    <a:gd name="connsiteX1" fmla="*/ 184935 w 184935"/>
                    <a:gd name="connsiteY1" fmla="*/ 144764 h 144764"/>
                    <a:gd name="connsiteX2" fmla="*/ 0 w 184935"/>
                    <a:gd name="connsiteY2" fmla="*/ 31155 h 144764"/>
                    <a:gd name="connsiteX3" fmla="*/ 0 w 184935"/>
                    <a:gd name="connsiteY3" fmla="*/ 0 h 14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935" h="144764">
                      <a:moveTo>
                        <a:pt x="184935" y="0"/>
                      </a:moveTo>
                      <a:lnTo>
                        <a:pt x="184935" y="144764"/>
                      </a:lnTo>
                      <a:lnTo>
                        <a:pt x="0" y="311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A132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Freeform: Shape 32">
                  <a:extLst>
                    <a:ext uri="{FF2B5EF4-FFF2-40B4-BE49-F238E27FC236}">
                      <a16:creationId xmlns:a16="http://schemas.microsoft.com/office/drawing/2014/main" id="{40C80709-C4C1-1977-7D35-779F41607A59}"/>
                    </a:ext>
                  </a:extLst>
                </p:cNvPr>
                <p:cNvSpPr/>
                <p:nvPr/>
              </p:nvSpPr>
              <p:spPr>
                <a:xfrm rot="19706210">
                  <a:off x="2433854" y="1943434"/>
                  <a:ext cx="184412" cy="144355"/>
                </a:xfrm>
                <a:custGeom>
                  <a:avLst/>
                  <a:gdLst>
                    <a:gd name="connsiteX0" fmla="*/ 184935 w 184935"/>
                    <a:gd name="connsiteY0" fmla="*/ 0 h 144764"/>
                    <a:gd name="connsiteX1" fmla="*/ 184935 w 184935"/>
                    <a:gd name="connsiteY1" fmla="*/ 144764 h 144764"/>
                    <a:gd name="connsiteX2" fmla="*/ 0 w 184935"/>
                    <a:gd name="connsiteY2" fmla="*/ 31155 h 144764"/>
                    <a:gd name="connsiteX3" fmla="*/ 0 w 184935"/>
                    <a:gd name="connsiteY3" fmla="*/ 0 h 14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935" h="144764">
                      <a:moveTo>
                        <a:pt x="184935" y="0"/>
                      </a:moveTo>
                      <a:lnTo>
                        <a:pt x="184935" y="144764"/>
                      </a:lnTo>
                      <a:lnTo>
                        <a:pt x="0" y="311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A132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: Top Corners Rounded 33">
                  <a:extLst>
                    <a:ext uri="{FF2B5EF4-FFF2-40B4-BE49-F238E27FC236}">
                      <a16:creationId xmlns:a16="http://schemas.microsoft.com/office/drawing/2014/main" id="{3C85F6A1-1FA4-4684-1B0F-985E544F88DB}"/>
                    </a:ext>
                  </a:extLst>
                </p:cNvPr>
                <p:cNvSpPr/>
                <p:nvPr/>
              </p:nvSpPr>
              <p:spPr>
                <a:xfrm rot="10800000">
                  <a:off x="1372511" y="1902997"/>
                  <a:ext cx="1192094" cy="836323"/>
                </a:xfrm>
                <a:prstGeom prst="round2SameRect">
                  <a:avLst/>
                </a:prstGeom>
                <a:solidFill>
                  <a:schemeClr val="tx1"/>
                </a:solidFill>
                <a:ln>
                  <a:solidFill>
                    <a:srgbClr val="DCA52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9" name="TextBox 34">
              <a:extLst>
                <a:ext uri="{FF2B5EF4-FFF2-40B4-BE49-F238E27FC236}">
                  <a16:creationId xmlns:a16="http://schemas.microsoft.com/office/drawing/2014/main" id="{221A30B9-6AF4-84D5-28A3-2C8CC6066631}"/>
                </a:ext>
              </a:extLst>
            </p:cNvPr>
            <p:cNvSpPr txBox="1"/>
            <p:nvPr/>
          </p:nvSpPr>
          <p:spPr>
            <a:xfrm>
              <a:off x="1779513" y="2002975"/>
              <a:ext cx="1297150" cy="5644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DCA523"/>
                  </a:solidFill>
                  <a:latin typeface="Raleway ExtraBold" pitchFamily="2" charset="0"/>
                </a:rPr>
                <a:t>Prompt</a:t>
              </a:r>
            </a:p>
          </p:txBody>
        </p:sp>
        <p:sp>
          <p:nvSpPr>
            <p:cNvPr id="20" name="TextBox 38">
              <a:extLst>
                <a:ext uri="{FF2B5EF4-FFF2-40B4-BE49-F238E27FC236}">
                  <a16:creationId xmlns:a16="http://schemas.microsoft.com/office/drawing/2014/main" id="{A8FFFC38-BB2A-A084-4F82-BA660004F989}"/>
                </a:ext>
              </a:extLst>
            </p:cNvPr>
            <p:cNvSpPr txBox="1"/>
            <p:nvPr/>
          </p:nvSpPr>
          <p:spPr>
            <a:xfrm>
              <a:off x="977008" y="2893333"/>
              <a:ext cx="2902160" cy="2652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dirty="0">
                  <a:solidFill>
                    <a:schemeClr val="bg2"/>
                  </a:solidFill>
                  <a:latin typeface="Raleway" pitchFamily="2" charset="0"/>
                </a:rPr>
                <a:t>"</a:t>
              </a:r>
              <a:r>
                <a:rPr lang="en-US" sz="1400" dirty="0">
                  <a:solidFill>
                    <a:schemeClr val="bg2"/>
                  </a:solidFill>
                  <a:latin typeface="Raleway" pitchFamily="2" charset="0"/>
                </a:rPr>
                <a:t>You are a warm, friendly, and emotionally intelligent movie recommender for the platform </a:t>
              </a:r>
              <a:r>
                <a:rPr lang="en-US" sz="1400" dirty="0" err="1">
                  <a:solidFill>
                    <a:schemeClr val="bg2"/>
                  </a:solidFill>
                  <a:latin typeface="Raleway" pitchFamily="2" charset="0"/>
                </a:rPr>
                <a:t>WatchIt</a:t>
              </a:r>
              <a:r>
                <a:rPr lang="en-US" sz="1400" dirty="0">
                  <a:solidFill>
                    <a:schemeClr val="bg2"/>
                  </a:solidFill>
                  <a:latin typeface="Raleway" pitchFamily="2" charset="0"/>
                </a:rPr>
                <a:t>. Adapt tone and vocabulary to the user’s age. Naturally connect the user’s lifestyle or occupation to the mood or themes of the recommended genres. Write exactly 2–3 sentences, each on a new line. Use bullet points ONLY for the top 3 movie recommendations. Do not mention zip code."</a:t>
              </a:r>
              <a:endParaRPr lang="en-US" sz="1400" dirty="0">
                <a:solidFill>
                  <a:schemeClr val="bg1"/>
                </a:solidFill>
                <a:latin typeface="Raleway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7019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966E1-B051-5B9F-D42C-170A25159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older 5">
            <a:extLst>
              <a:ext uri="{FF2B5EF4-FFF2-40B4-BE49-F238E27FC236}">
                <a16:creationId xmlns:a16="http://schemas.microsoft.com/office/drawing/2014/main" id="{4A43D4B0-6A03-C31F-C4A3-8EFA1DA79D5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22" name="Holder 6">
            <a:extLst>
              <a:ext uri="{FF2B5EF4-FFF2-40B4-BE49-F238E27FC236}">
                <a16:creationId xmlns:a16="http://schemas.microsoft.com/office/drawing/2014/main" id="{3B608603-53F6-940B-0A75-2D8EE18931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11</a:t>
            </a:fld>
            <a:endParaRPr spc="-15" dirty="0"/>
          </a:p>
        </p:txBody>
      </p:sp>
      <p:sp>
        <p:nvSpPr>
          <p:cNvPr id="3" name="Rounded Rectangle 39">
            <a:extLst>
              <a:ext uri="{FF2B5EF4-FFF2-40B4-BE49-F238E27FC236}">
                <a16:creationId xmlns:a16="http://schemas.microsoft.com/office/drawing/2014/main" id="{B03F5A82-8D40-7E35-6E77-2B83100F01F8}"/>
              </a:ext>
            </a:extLst>
          </p:cNvPr>
          <p:cNvSpPr/>
          <p:nvPr/>
        </p:nvSpPr>
        <p:spPr bwMode="auto">
          <a:xfrm>
            <a:off x="2174435" y="2341775"/>
            <a:ext cx="7083123" cy="1784290"/>
          </a:xfrm>
          <a:prstGeom prst="roundRect">
            <a:avLst>
              <a:gd name="adj" fmla="val 3516"/>
            </a:avLst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288000" tIns="0" rIns="216000" bIns="0" numCol="1" rtlCol="0" anchor="ctr" anchorCtr="0" compatLnSpc="1">
            <a:prstTxWarp prst="textNoShape">
              <a:avLst/>
            </a:prstTxWarp>
          </a:bodyPr>
          <a:lstStyle/>
          <a:p>
            <a:pPr>
              <a:spcAft>
                <a:spcPts val="1200"/>
              </a:spcAft>
            </a:pPr>
            <a:endParaRPr lang="en-PK" sz="1200" dirty="0"/>
          </a:p>
        </p:txBody>
      </p:sp>
      <p:sp>
        <p:nvSpPr>
          <p:cNvPr id="4" name="Rounded Rectangle 38">
            <a:extLst>
              <a:ext uri="{FF2B5EF4-FFF2-40B4-BE49-F238E27FC236}">
                <a16:creationId xmlns:a16="http://schemas.microsoft.com/office/drawing/2014/main" id="{FABEAA0B-3294-5CD0-EB85-482342B84C0C}"/>
              </a:ext>
            </a:extLst>
          </p:cNvPr>
          <p:cNvSpPr/>
          <p:nvPr/>
        </p:nvSpPr>
        <p:spPr bwMode="auto">
          <a:xfrm>
            <a:off x="2170447" y="2342081"/>
            <a:ext cx="116191" cy="1784290"/>
          </a:xfrm>
          <a:prstGeom prst="roundRect">
            <a:avLst/>
          </a:prstGeom>
          <a:solidFill>
            <a:srgbClr val="DCA523"/>
          </a:solidFill>
          <a:ln w="9525">
            <a:noFill/>
            <a:round/>
            <a:headEnd/>
            <a:tailEnd/>
          </a:ln>
        </p:spPr>
        <p:txBody>
          <a:bodyPr vert="horz" wrap="square" lIns="288000" tIns="0" rIns="216000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40"/>
              </a:lnSpc>
            </a:pPr>
            <a:endParaRPr lang="en-US" sz="900" b="1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0"/>
            </a:endParaRP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6B7279B6-BAFC-A366-175A-193CF556C5AC}"/>
              </a:ext>
            </a:extLst>
          </p:cNvPr>
          <p:cNvSpPr txBox="1"/>
          <p:nvPr/>
        </p:nvSpPr>
        <p:spPr>
          <a:xfrm>
            <a:off x="3614712" y="2844225"/>
            <a:ext cx="41715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  <a:hlinkClick r:id="rId3"/>
              </a:rPr>
              <a:t>Live Presentation</a:t>
            </a:r>
            <a:endParaRPr lang="en-US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Shape 3939">
            <a:extLst>
              <a:ext uri="{FF2B5EF4-FFF2-40B4-BE49-F238E27FC236}">
                <a16:creationId xmlns:a16="http://schemas.microsoft.com/office/drawing/2014/main" id="{0B29D9EA-C8DB-AD9A-AB42-0B84D1A55F47}"/>
              </a:ext>
            </a:extLst>
          </p:cNvPr>
          <p:cNvSpPr/>
          <p:nvPr/>
        </p:nvSpPr>
        <p:spPr>
          <a:xfrm>
            <a:off x="7645271" y="2974802"/>
            <a:ext cx="383398" cy="3833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73" y="235"/>
                </a:moveTo>
                <a:cubicBezTo>
                  <a:pt x="12909" y="205"/>
                  <a:pt x="12839" y="184"/>
                  <a:pt x="12764" y="184"/>
                </a:cubicBezTo>
                <a:cubicBezTo>
                  <a:pt x="12492" y="184"/>
                  <a:pt x="12273" y="405"/>
                  <a:pt x="12273" y="675"/>
                </a:cubicBezTo>
                <a:cubicBezTo>
                  <a:pt x="12273" y="946"/>
                  <a:pt x="12492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5"/>
                  <a:pt x="9107" y="184"/>
                  <a:pt x="8836" y="184"/>
                </a:cubicBezTo>
                <a:cubicBezTo>
                  <a:pt x="8761" y="184"/>
                  <a:pt x="8691" y="205"/>
                  <a:pt x="8626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1" y="9818"/>
                  <a:pt x="6382" y="10038"/>
                  <a:pt x="6382" y="10309"/>
                </a:cubicBezTo>
                <a:cubicBezTo>
                  <a:pt x="6382" y="10445"/>
                  <a:pt x="6436" y="10568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8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4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2" y="9874"/>
                  <a:pt x="7009" y="9818"/>
                  <a:pt x="6873" y="9818"/>
                </a:cubicBezTo>
              </a:path>
            </a:pathLst>
          </a:custGeom>
          <a:solidFill>
            <a:srgbClr val="DCA523"/>
          </a:solidFill>
          <a:ln w="12700">
            <a:solidFill>
              <a:srgbClr val="F89F19"/>
            </a:solidFill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00000"/>
                </a:solidFill>
              </a:defRPr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CFCEA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A627CEB7-6460-90C3-B2AA-6EC7D986F993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2482B6CE-3C83-B0E4-CF33-A3BE4C6B4EE6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2641830C-3DF9-852F-0DCF-DAB22A409438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76DB32C3-F833-233F-65BB-936311F822B0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D9C9FB70-05EF-1906-7ADD-325FAB4029E6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5">
            <a:extLst>
              <a:ext uri="{FF2B5EF4-FFF2-40B4-BE49-F238E27FC236}">
                <a16:creationId xmlns:a16="http://schemas.microsoft.com/office/drawing/2014/main" id="{B92A9C50-6C03-CFAD-A032-636D65314EF5}"/>
              </a:ext>
            </a:extLst>
          </p:cNvPr>
          <p:cNvSpPr txBox="1"/>
          <p:nvPr/>
        </p:nvSpPr>
        <p:spPr>
          <a:xfrm>
            <a:off x="526307" y="514852"/>
            <a:ext cx="10578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Making AI Feel Human</a:t>
            </a:r>
          </a:p>
        </p:txBody>
      </p:sp>
    </p:spTree>
    <p:extLst>
      <p:ext uri="{BB962C8B-B14F-4D97-AF65-F5344CB8AC3E}">
        <p14:creationId xmlns:p14="http://schemas.microsoft.com/office/powerpoint/2010/main" val="3007448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8CAE3-684F-B7D6-FAC7-DE3D117E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06F5A61-3CEE-B736-1982-513A94B27148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DB6DD95-1078-9A49-433F-0104FA4DED7D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4DA298-C7F6-D63A-7495-9A56EADF3DB7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3B2554-9D1E-F163-63CB-990851A16B1F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2B00F0-8421-3E0F-6ED2-7D52FCCDEE4A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0A2E56B-B834-362D-FAC8-0C05C397DC20}"/>
              </a:ext>
            </a:extLst>
          </p:cNvPr>
          <p:cNvSpPr txBox="1"/>
          <p:nvPr/>
        </p:nvSpPr>
        <p:spPr>
          <a:xfrm>
            <a:off x="526307" y="514852"/>
            <a:ext cx="10578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Deliverables &amp; Next Steps</a:t>
            </a:r>
            <a:endParaRPr lang="en-PK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1" name="Rounded Rectangle 39">
            <a:extLst>
              <a:ext uri="{FF2B5EF4-FFF2-40B4-BE49-F238E27FC236}">
                <a16:creationId xmlns:a16="http://schemas.microsoft.com/office/drawing/2014/main" id="{67D54360-34C9-7CC6-2DBE-A43B6D1B74BD}"/>
              </a:ext>
            </a:extLst>
          </p:cNvPr>
          <p:cNvSpPr/>
          <p:nvPr/>
        </p:nvSpPr>
        <p:spPr bwMode="auto">
          <a:xfrm>
            <a:off x="613632" y="1882523"/>
            <a:ext cx="4079963" cy="2934386"/>
          </a:xfrm>
          <a:prstGeom prst="roundRect">
            <a:avLst>
              <a:gd name="adj" fmla="val 3516"/>
            </a:avLst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288000" tIns="0" rIns="216000" bIns="0" numCol="1" rtlCol="0" anchor="ctr" anchorCtr="0" compatLnSpc="1">
            <a:prstTxWarp prst="textNoShape">
              <a:avLst/>
            </a:prstTxWarp>
          </a:bodyPr>
          <a:lstStyle/>
          <a:p>
            <a:pPr>
              <a:spcAft>
                <a:spcPts val="1200"/>
              </a:spcAft>
            </a:pPr>
            <a:endParaRPr lang="en-PK" sz="12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19A682-161D-B864-E10A-98A82FA5E952}"/>
              </a:ext>
            </a:extLst>
          </p:cNvPr>
          <p:cNvCxnSpPr>
            <a:cxnSpLocks/>
          </p:cNvCxnSpPr>
          <p:nvPr/>
        </p:nvCxnSpPr>
        <p:spPr>
          <a:xfrm flipH="1" flipV="1">
            <a:off x="7403039" y="4807085"/>
            <a:ext cx="4899" cy="3048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802B0C-04AE-58F8-678D-FF3AE1A2AC90}"/>
              </a:ext>
            </a:extLst>
          </p:cNvPr>
          <p:cNvCxnSpPr>
            <a:cxnSpLocks/>
          </p:cNvCxnSpPr>
          <p:nvPr/>
        </p:nvCxnSpPr>
        <p:spPr>
          <a:xfrm flipV="1">
            <a:off x="2431540" y="4836264"/>
            <a:ext cx="0" cy="69003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6F2D2FDD-A19D-CE6C-AB40-D22DAB92506A}"/>
              </a:ext>
            </a:extLst>
          </p:cNvPr>
          <p:cNvSpPr/>
          <p:nvPr/>
        </p:nvSpPr>
        <p:spPr bwMode="auto">
          <a:xfrm>
            <a:off x="609644" y="1882828"/>
            <a:ext cx="135017" cy="2937324"/>
          </a:xfrm>
          <a:prstGeom prst="roundRect">
            <a:avLst/>
          </a:prstGeom>
          <a:solidFill>
            <a:srgbClr val="DCA523"/>
          </a:solidFill>
          <a:ln w="9525">
            <a:noFill/>
            <a:round/>
            <a:headEnd/>
            <a:tailEnd/>
          </a:ln>
        </p:spPr>
        <p:txBody>
          <a:bodyPr vert="horz" wrap="square" lIns="288000" tIns="0" rIns="216000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40"/>
              </a:lnSpc>
            </a:pPr>
            <a:endParaRPr lang="en-US" sz="900" b="1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0"/>
            </a:endParaRPr>
          </a:p>
        </p:txBody>
      </p:sp>
      <p:sp>
        <p:nvSpPr>
          <p:cNvPr id="26" name="Rectangle: Rounded Corners 40">
            <a:extLst>
              <a:ext uri="{FF2B5EF4-FFF2-40B4-BE49-F238E27FC236}">
                <a16:creationId xmlns:a16="http://schemas.microsoft.com/office/drawing/2014/main" id="{3F850416-4408-3BF4-6199-2EA328A6BA99}"/>
              </a:ext>
            </a:extLst>
          </p:cNvPr>
          <p:cNvSpPr/>
          <p:nvPr/>
        </p:nvSpPr>
        <p:spPr>
          <a:xfrm rot="18900000" flipH="1">
            <a:off x="6734115" y="5192111"/>
            <a:ext cx="1347648" cy="1347658"/>
          </a:xfrm>
          <a:prstGeom prst="roundRect">
            <a:avLst>
              <a:gd name="adj" fmla="val 21393"/>
            </a:avLst>
          </a:prstGeom>
          <a:solidFill>
            <a:srgbClr val="DCA523"/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sz="1000" b="1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</p:txBody>
      </p:sp>
      <p:sp>
        <p:nvSpPr>
          <p:cNvPr id="27" name="Rectangle: Rounded Corners 40">
            <a:extLst>
              <a:ext uri="{FF2B5EF4-FFF2-40B4-BE49-F238E27FC236}">
                <a16:creationId xmlns:a16="http://schemas.microsoft.com/office/drawing/2014/main" id="{7B2C1091-51FD-3CBA-F584-F1B8B55D00AC}"/>
              </a:ext>
            </a:extLst>
          </p:cNvPr>
          <p:cNvSpPr/>
          <p:nvPr/>
        </p:nvSpPr>
        <p:spPr>
          <a:xfrm rot="18900000" flipH="1">
            <a:off x="1764754" y="5192111"/>
            <a:ext cx="1347648" cy="1347658"/>
          </a:xfrm>
          <a:prstGeom prst="roundRect">
            <a:avLst>
              <a:gd name="adj" fmla="val 21393"/>
            </a:avLst>
          </a:prstGeom>
          <a:solidFill>
            <a:srgbClr val="DCA523"/>
          </a:solidFill>
          <a:ln w="1270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sz="1000" b="1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C4312F-331B-5B23-0BF3-14F4CF19BDF0}"/>
              </a:ext>
            </a:extLst>
          </p:cNvPr>
          <p:cNvSpPr txBox="1"/>
          <p:nvPr/>
        </p:nvSpPr>
        <p:spPr>
          <a:xfrm>
            <a:off x="841474" y="2086738"/>
            <a:ext cx="2887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CA523"/>
                </a:solidFill>
                <a:latin typeface="Montserrat" panose="00000500000000000000" pitchFamily="2" charset="0"/>
              </a:rPr>
              <a:t>Final Deliverables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BDF3E1-1968-6960-D0F9-B2FD3712B624}"/>
              </a:ext>
            </a:extLst>
          </p:cNvPr>
          <p:cNvSpPr txBox="1"/>
          <p:nvPr/>
        </p:nvSpPr>
        <p:spPr>
          <a:xfrm>
            <a:off x="841474" y="2688774"/>
            <a:ext cx="3891032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bg1"/>
              </a:buClr>
              <a:buSzPct val="150000"/>
              <a:buFont typeface="Poppins Light" panose="00000400000000000000" pitchFamily="2" charset="0"/>
              <a:buChar char="◌"/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Trained ML Model: Selected User-Based Cosine</a:t>
            </a:r>
          </a:p>
          <a:p>
            <a:pPr marL="285750" indent="-285750">
              <a:spcAft>
                <a:spcPts val="600"/>
              </a:spcAft>
              <a:buClr>
                <a:schemeClr val="bg1"/>
              </a:buClr>
              <a:buSzPct val="150000"/>
              <a:buFont typeface="Poppins Light" panose="00000400000000000000" pitchFamily="2" charset="0"/>
              <a:buChar char="◌"/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Personalization Layer: Integrated LLM via Ollama</a:t>
            </a:r>
          </a:p>
          <a:p>
            <a:pPr marL="285750" indent="-285750">
              <a:spcAft>
                <a:spcPts val="600"/>
              </a:spcAft>
              <a:buClr>
                <a:schemeClr val="bg1"/>
              </a:buClr>
              <a:buSzPct val="150000"/>
              <a:buFont typeface="Poppins Light" panose="00000400000000000000" pitchFamily="2" charset="0"/>
              <a:buChar char="◌"/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Deployed API: Built on </a:t>
            </a:r>
            <a:r>
              <a:rPr lang="en-US" sz="1400" dirty="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FastAPI</a:t>
            </a: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for real-time use</a:t>
            </a:r>
          </a:p>
          <a:p>
            <a:pPr marL="285750" indent="-285750">
              <a:spcAft>
                <a:spcPts val="600"/>
              </a:spcAft>
              <a:buClr>
                <a:schemeClr val="bg1"/>
              </a:buClr>
              <a:buSzPct val="150000"/>
              <a:buFont typeface="Poppins Light" panose="00000400000000000000" pitchFamily="2" charset="0"/>
              <a:buChar char="◌"/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Business &amp; tech documentation incl. code on </a:t>
            </a:r>
            <a:r>
              <a:rPr lang="en-US" sz="1400" dirty="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GitHib</a:t>
            </a:r>
            <a:endParaRPr lang="en-US" sz="14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99537-C1C9-AB82-C9E4-06A0806A6C14}"/>
              </a:ext>
            </a:extLst>
          </p:cNvPr>
          <p:cNvCxnSpPr/>
          <p:nvPr/>
        </p:nvCxnSpPr>
        <p:spPr>
          <a:xfrm>
            <a:off x="930374" y="2556694"/>
            <a:ext cx="11117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349EA57-06AE-4542-03A8-34BB624F3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818" y="5416956"/>
            <a:ext cx="888241" cy="888241"/>
          </a:xfrm>
          <a:prstGeom prst="rect">
            <a:avLst/>
          </a:prstGeom>
        </p:spPr>
      </p:pic>
      <p:pic>
        <p:nvPicPr>
          <p:cNvPr id="2" name="Graphic 10" descr="Branching diagram with solid fill">
            <a:extLst>
              <a:ext uri="{FF2B5EF4-FFF2-40B4-BE49-F238E27FC236}">
                <a16:creationId xmlns:a16="http://schemas.microsoft.com/office/drawing/2014/main" id="{084C1B67-74BF-8534-9931-70EA4C2062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986940" y="5435435"/>
            <a:ext cx="889200" cy="889200"/>
          </a:xfrm>
          <a:prstGeom prst="rect">
            <a:avLst/>
          </a:prstGeom>
        </p:spPr>
      </p:pic>
      <p:sp>
        <p:nvSpPr>
          <p:cNvPr id="4" name="Holder 5">
            <a:extLst>
              <a:ext uri="{FF2B5EF4-FFF2-40B4-BE49-F238E27FC236}">
                <a16:creationId xmlns:a16="http://schemas.microsoft.com/office/drawing/2014/main" id="{0677600C-C22F-DFBE-AF4F-38B35FD6AE77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0CD65CE3-EEDD-028F-98F0-7F33A615D6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12</a:t>
            </a:fld>
            <a:endParaRPr spc="-15" dirty="0"/>
          </a:p>
        </p:txBody>
      </p:sp>
      <p:sp>
        <p:nvSpPr>
          <p:cNvPr id="3" name="Rounded Rectangle 39">
            <a:extLst>
              <a:ext uri="{FF2B5EF4-FFF2-40B4-BE49-F238E27FC236}">
                <a16:creationId xmlns:a16="http://schemas.microsoft.com/office/drawing/2014/main" id="{0C9AFC48-65B1-7202-3FB4-8D9F856FD3BB}"/>
              </a:ext>
            </a:extLst>
          </p:cNvPr>
          <p:cNvSpPr/>
          <p:nvPr/>
        </p:nvSpPr>
        <p:spPr bwMode="auto">
          <a:xfrm>
            <a:off x="5589225" y="1879279"/>
            <a:ext cx="4088940" cy="2937655"/>
          </a:xfrm>
          <a:prstGeom prst="roundRect">
            <a:avLst>
              <a:gd name="adj" fmla="val 3516"/>
            </a:avLst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288000" tIns="0" rIns="216000" bIns="0" numCol="1" rtlCol="0" anchor="ctr" anchorCtr="0" compatLnSpc="1">
            <a:prstTxWarp prst="textNoShape">
              <a:avLst/>
            </a:prstTxWarp>
          </a:bodyPr>
          <a:lstStyle/>
          <a:p>
            <a:pPr>
              <a:spcAft>
                <a:spcPts val="1200"/>
              </a:spcAft>
            </a:pPr>
            <a:endParaRPr lang="en-PK" sz="1200" dirty="0"/>
          </a:p>
        </p:txBody>
      </p:sp>
      <p:sp>
        <p:nvSpPr>
          <p:cNvPr id="7" name="Rounded Rectangle 38">
            <a:extLst>
              <a:ext uri="{FF2B5EF4-FFF2-40B4-BE49-F238E27FC236}">
                <a16:creationId xmlns:a16="http://schemas.microsoft.com/office/drawing/2014/main" id="{D625FACD-F2CA-11FD-F772-2DE9D6C1CF74}"/>
              </a:ext>
            </a:extLst>
          </p:cNvPr>
          <p:cNvSpPr/>
          <p:nvPr/>
        </p:nvSpPr>
        <p:spPr bwMode="auto">
          <a:xfrm>
            <a:off x="5585236" y="1879585"/>
            <a:ext cx="135017" cy="2937324"/>
          </a:xfrm>
          <a:prstGeom prst="roundRect">
            <a:avLst/>
          </a:prstGeom>
          <a:solidFill>
            <a:srgbClr val="DCA523"/>
          </a:solidFill>
          <a:ln w="9525">
            <a:noFill/>
            <a:round/>
            <a:headEnd/>
            <a:tailEnd/>
          </a:ln>
        </p:spPr>
        <p:txBody>
          <a:bodyPr vert="horz" wrap="square" lIns="288000" tIns="0" rIns="216000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ts val="1640"/>
              </a:lnSpc>
            </a:pPr>
            <a:endParaRPr lang="en-US" sz="900" b="1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0"/>
            </a:endParaRPr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AAEBBDEC-DBD1-FE28-D307-03A784A9C83D}"/>
              </a:ext>
            </a:extLst>
          </p:cNvPr>
          <p:cNvSpPr txBox="1"/>
          <p:nvPr/>
        </p:nvSpPr>
        <p:spPr>
          <a:xfrm>
            <a:off x="5817065" y="2083495"/>
            <a:ext cx="3059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CA523"/>
                </a:solidFill>
                <a:latin typeface="Montserrat" panose="00000500000000000000" pitchFamily="2" charset="0"/>
              </a:rPr>
              <a:t>Strategic Next Steps</a:t>
            </a:r>
          </a:p>
        </p:txBody>
      </p:sp>
      <p:sp>
        <p:nvSpPr>
          <p:cNvPr id="14" name="TextBox 32">
            <a:extLst>
              <a:ext uri="{FF2B5EF4-FFF2-40B4-BE49-F238E27FC236}">
                <a16:creationId xmlns:a16="http://schemas.microsoft.com/office/drawing/2014/main" id="{33D4B99C-B5CB-29D0-CAE8-E7DF94EF5F87}"/>
              </a:ext>
            </a:extLst>
          </p:cNvPr>
          <p:cNvSpPr txBox="1"/>
          <p:nvPr/>
        </p:nvSpPr>
        <p:spPr>
          <a:xfrm>
            <a:off x="5815593" y="2685531"/>
            <a:ext cx="394125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Clr>
                <a:schemeClr val="bg1"/>
              </a:buClr>
              <a:buSzPct val="150000"/>
              <a:buFont typeface="Poppins Light" panose="00000400000000000000" pitchFamily="2" charset="0"/>
              <a:buChar char="◌"/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Model Governance: Track quality and data drift</a:t>
            </a:r>
          </a:p>
          <a:p>
            <a:pPr marL="285750" indent="-285750">
              <a:spcAft>
                <a:spcPts val="600"/>
              </a:spcAft>
              <a:buClr>
                <a:schemeClr val="bg1"/>
              </a:buClr>
              <a:buSzPct val="150000"/>
              <a:buFont typeface="Poppins Light" panose="00000400000000000000" pitchFamily="2" charset="0"/>
              <a:buChar char="◌"/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Continuous Optimization: Periodic retraining and prompt updates</a:t>
            </a:r>
          </a:p>
          <a:p>
            <a:pPr marL="285750" indent="-285750">
              <a:spcAft>
                <a:spcPts val="600"/>
              </a:spcAft>
              <a:buClr>
                <a:schemeClr val="bg1"/>
              </a:buClr>
              <a:buSzPct val="150000"/>
              <a:buFont typeface="Poppins Light" panose="00000400000000000000" pitchFamily="2" charset="0"/>
              <a:buChar char="◌"/>
            </a:pPr>
            <a:r>
              <a:rPr lang="en-US" sz="1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Feature Expansion: Scalable cold-start implementation</a:t>
            </a:r>
          </a:p>
        </p:txBody>
      </p:sp>
      <p:cxnSp>
        <p:nvCxnSpPr>
          <p:cNvPr id="15" name="Straight Connector 34">
            <a:extLst>
              <a:ext uri="{FF2B5EF4-FFF2-40B4-BE49-F238E27FC236}">
                <a16:creationId xmlns:a16="http://schemas.microsoft.com/office/drawing/2014/main" id="{58946591-6051-24A5-2171-ED68D9DD155C}"/>
              </a:ext>
            </a:extLst>
          </p:cNvPr>
          <p:cNvCxnSpPr/>
          <p:nvPr/>
        </p:nvCxnSpPr>
        <p:spPr>
          <a:xfrm>
            <a:off x="5905966" y="2553451"/>
            <a:ext cx="11117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992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31FA7-9F2E-A851-4F5F-BFC669016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EAA44AE-C8B4-B3BB-8757-EDB652FACC58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E8EE6D-E13F-92CB-2EFF-FE7384CB0544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958304B-E368-95C5-F0AF-1F2071DFE8A0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F20A3F-AE9C-8E42-7AA4-C576116E87F8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5C99A7-2D66-5849-D7F3-D4308EA62143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B6E119A-576B-4E62-0A81-B71E74021FDA}"/>
              </a:ext>
            </a:extLst>
          </p:cNvPr>
          <p:cNvSpPr txBox="1"/>
          <p:nvPr/>
        </p:nvSpPr>
        <p:spPr>
          <a:xfrm>
            <a:off x="526307" y="514852"/>
            <a:ext cx="10578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Key Takeaways ✅</a:t>
            </a:r>
            <a:endParaRPr lang="en-PK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CB797F-580D-2C4F-D256-26B4DBDCC984}"/>
              </a:ext>
            </a:extLst>
          </p:cNvPr>
          <p:cNvSpPr txBox="1"/>
          <p:nvPr/>
        </p:nvSpPr>
        <p:spPr>
          <a:xfrm>
            <a:off x="203072" y="4920732"/>
            <a:ext cx="46662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Poppins Light" panose="00000400000000000000" pitchFamily="2" charset="0"/>
                <a:cs typeface="Poppins Light" panose="00000400000000000000" pitchFamily="2" charset="0"/>
              </a:rPr>
              <a:t>Release Month by Revenue Category (Context: seasonality might be important for movie quality based on domain knowledge High quality/revenue movies might be released around Thanksgiving and Christmas)</a:t>
            </a:r>
          </a:p>
        </p:txBody>
      </p:sp>
      <p:sp>
        <p:nvSpPr>
          <p:cNvPr id="20" name="TextBox 48">
            <a:extLst>
              <a:ext uri="{FF2B5EF4-FFF2-40B4-BE49-F238E27FC236}">
                <a16:creationId xmlns:a16="http://schemas.microsoft.com/office/drawing/2014/main" id="{3FD8BA5C-EE5D-27DB-340F-80297E59CEB5}"/>
              </a:ext>
            </a:extLst>
          </p:cNvPr>
          <p:cNvSpPr txBox="1"/>
          <p:nvPr/>
        </p:nvSpPr>
        <p:spPr>
          <a:xfrm>
            <a:off x="526307" y="1890128"/>
            <a:ext cx="5569693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263525">
              <a:spcAft>
                <a:spcPts val="1200"/>
              </a:spcAft>
              <a:buSzPct val="150000"/>
              <a:buFont typeface="Poppins Light" panose="00000400000000000000" pitchFamily="2" charset="0"/>
              <a:buChar char="◌"/>
            </a:pPr>
            <a:r>
              <a:rPr lang="en-US" sz="16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Built a real-world ML pipeline</a:t>
            </a:r>
          </a:p>
          <a:p>
            <a:pPr marL="355600" indent="-263525">
              <a:spcAft>
                <a:spcPts val="1200"/>
              </a:spcAft>
              <a:buSzPct val="150000"/>
              <a:buFont typeface="Poppins Light" panose="00000400000000000000" pitchFamily="2" charset="0"/>
              <a:buChar char="◌"/>
            </a:pPr>
            <a:r>
              <a:rPr lang="en-US" sz="16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User-Based CF (Cosine) performed best</a:t>
            </a:r>
          </a:p>
          <a:p>
            <a:pPr marL="355600" indent="-263525">
              <a:spcAft>
                <a:spcPts val="1200"/>
              </a:spcAft>
              <a:buSzPct val="150000"/>
              <a:buFont typeface="Poppins Light" panose="00000400000000000000" pitchFamily="2" charset="0"/>
              <a:buChar char="◌"/>
            </a:pPr>
            <a:r>
              <a:rPr lang="en-US" sz="16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Hybrid and clustering models aided analysis</a:t>
            </a:r>
          </a:p>
          <a:p>
            <a:pPr marL="355600" indent="-263525">
              <a:spcAft>
                <a:spcPts val="1200"/>
              </a:spcAft>
              <a:buSzPct val="150000"/>
              <a:buFont typeface="Poppins Light" panose="00000400000000000000" pitchFamily="2" charset="0"/>
              <a:buChar char="◌"/>
            </a:pPr>
            <a:r>
              <a:rPr lang="en-US" sz="16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Balances accuracy, speed, and personalization</a:t>
            </a:r>
          </a:p>
          <a:p>
            <a:pPr marL="355600" indent="-263525">
              <a:spcAft>
                <a:spcPts val="1200"/>
              </a:spcAft>
              <a:buSzPct val="150000"/>
              <a:buFont typeface="Poppins Light" panose="00000400000000000000" pitchFamily="2" charset="0"/>
              <a:buChar char="◌"/>
            </a:pPr>
            <a:r>
              <a:rPr lang="en-US" sz="16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LLM improves user experience</a:t>
            </a:r>
          </a:p>
          <a:p>
            <a:pPr marL="355600" indent="-263525">
              <a:spcAft>
                <a:spcPts val="1200"/>
              </a:spcAft>
              <a:buSzPct val="150000"/>
              <a:buFont typeface="Poppins Light" panose="00000400000000000000" pitchFamily="2" charset="0"/>
              <a:buChar char="◌"/>
            </a:pPr>
            <a:r>
              <a:rPr lang="en-US" sz="16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Deployed an AI system end-to-end</a:t>
            </a:r>
          </a:p>
          <a:p>
            <a:pPr marL="355600" indent="-263525">
              <a:spcAft>
                <a:spcPts val="1200"/>
              </a:spcAft>
              <a:buSzPct val="150000"/>
              <a:buFont typeface="Poppins Light" panose="00000400000000000000" pitchFamily="2" charset="0"/>
              <a:buChar char="◌"/>
            </a:pPr>
            <a:r>
              <a:rPr lang="en-US" sz="16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Combined ML + LLMs for better UX</a:t>
            </a:r>
          </a:p>
        </p:txBody>
      </p:sp>
      <p:sp>
        <p:nvSpPr>
          <p:cNvPr id="23" name="Holder 5">
            <a:extLst>
              <a:ext uri="{FF2B5EF4-FFF2-40B4-BE49-F238E27FC236}">
                <a16:creationId xmlns:a16="http://schemas.microsoft.com/office/drawing/2014/main" id="{FE4C56D2-ACF3-ED84-FF88-57BE404DBE0A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30" name="Holder 6">
            <a:extLst>
              <a:ext uri="{FF2B5EF4-FFF2-40B4-BE49-F238E27FC236}">
                <a16:creationId xmlns:a16="http://schemas.microsoft.com/office/drawing/2014/main" id="{0DAA6DAC-C44B-D71C-9157-3E8D4A4DA3D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13</a:t>
            </a:fld>
            <a:endParaRPr spc="-15" dirty="0"/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51AC2919-CA7D-CF67-8710-71F3A67FA09B}"/>
              </a:ext>
            </a:extLst>
          </p:cNvPr>
          <p:cNvSpPr txBox="1"/>
          <p:nvPr/>
        </p:nvSpPr>
        <p:spPr>
          <a:xfrm>
            <a:off x="526307" y="5467533"/>
            <a:ext cx="10700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DCA523"/>
                </a:solidFill>
                <a:latin typeface="Montserrat" panose="00000500000000000000" pitchFamily="2" charset="0"/>
              </a:rPr>
              <a:t>This project mirrors how machine learning is built in industry.</a:t>
            </a:r>
            <a:endParaRPr lang="en-US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2" name="Grafik 1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9EB49C5-FE8C-D0BE-F4AF-5D10B9B51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343" y="1865148"/>
            <a:ext cx="4299626" cy="2739211"/>
          </a:xfrm>
          <a:prstGeom prst="rect">
            <a:avLst/>
          </a:prstGeom>
        </p:spPr>
      </p:pic>
      <p:sp>
        <p:nvSpPr>
          <p:cNvPr id="37" name="Rectangle: Rounded Corners 46">
            <a:extLst>
              <a:ext uri="{FF2B5EF4-FFF2-40B4-BE49-F238E27FC236}">
                <a16:creationId xmlns:a16="http://schemas.microsoft.com/office/drawing/2014/main" id="{86871FFC-14B1-5422-C76D-B071591A7F5B}"/>
              </a:ext>
            </a:extLst>
          </p:cNvPr>
          <p:cNvSpPr/>
          <p:nvPr/>
        </p:nvSpPr>
        <p:spPr>
          <a:xfrm>
            <a:off x="6196519" y="1678021"/>
            <a:ext cx="4669277" cy="3097244"/>
          </a:xfrm>
          <a:prstGeom prst="roundRect">
            <a:avLst>
              <a:gd name="adj" fmla="val 10603"/>
            </a:avLst>
          </a:prstGeom>
          <a:noFill/>
          <a:ln>
            <a:solidFill>
              <a:srgbClr val="DCA5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828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5">
            <a:extLst>
              <a:ext uri="{FF2B5EF4-FFF2-40B4-BE49-F238E27FC236}">
                <a16:creationId xmlns:a16="http://schemas.microsoft.com/office/drawing/2014/main" id="{9F20F0D4-E216-2592-5BF7-77E5C2176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3" y="-343700"/>
            <a:ext cx="7539050" cy="7539050"/>
          </a:xfrm>
          <a:prstGeom prst="ellipse">
            <a:avLst/>
          </a:prstGeom>
          <a:solidFill>
            <a:schemeClr val="bg1">
              <a:alpha val="20000"/>
            </a:schemeClr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135C07AA-78A1-B6CB-3559-BC29C20FE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348" y="673735"/>
            <a:ext cx="5504180" cy="5504180"/>
          </a:xfrm>
          <a:prstGeom prst="ellipse">
            <a:avLst/>
          </a:prstGeom>
          <a:solidFill>
            <a:srgbClr val="DCA523"/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684C80DF-DCDB-2681-4F1D-1BE78E1D0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0" y="1227138"/>
            <a:ext cx="4397375" cy="4395788"/>
          </a:xfrm>
          <a:prstGeom prst="ellipse">
            <a:avLst/>
          </a:prstGeom>
          <a:solidFill>
            <a:schemeClr val="tx1"/>
          </a:solidFill>
          <a:ln w="952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AB4977-949D-F3F6-4602-D5C1EFA90BC4}"/>
              </a:ext>
            </a:extLst>
          </p:cNvPr>
          <p:cNvSpPr txBox="1"/>
          <p:nvPr/>
        </p:nvSpPr>
        <p:spPr>
          <a:xfrm>
            <a:off x="2065654" y="2613281"/>
            <a:ext cx="363156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Montserrat" panose="00000500000000000000" pitchFamily="2" charset="0"/>
              </a:rPr>
              <a:t>THANK YOU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6AFBA98C-667B-ADEC-DC43-120E8EB67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9299" y="167337"/>
            <a:ext cx="1413815" cy="259020"/>
          </a:xfrm>
          <a:prstGeom prst="rect">
            <a:avLst/>
          </a:prstGeom>
        </p:spPr>
      </p:pic>
      <p:sp>
        <p:nvSpPr>
          <p:cNvPr id="12" name="TextBox 18">
            <a:extLst>
              <a:ext uri="{FF2B5EF4-FFF2-40B4-BE49-F238E27FC236}">
                <a16:creationId xmlns:a16="http://schemas.microsoft.com/office/drawing/2014/main" id="{6943DEFB-80DB-A9DD-B67B-DC0E75C651C6}"/>
              </a:ext>
            </a:extLst>
          </p:cNvPr>
          <p:cNvSpPr txBox="1"/>
          <p:nvPr/>
        </p:nvSpPr>
        <p:spPr>
          <a:xfrm>
            <a:off x="4960367" y="5584473"/>
            <a:ext cx="70727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solidFill>
                  <a:schemeClr val="bg1"/>
                </a:solidFill>
                <a:latin typeface="Raleway" pitchFamily="2" charset="0"/>
                <a:cs typeface="Poppins Light" panose="00000400000000000000" pitchFamily="2" charset="0"/>
              </a:rPr>
              <a:t>Presented by:</a:t>
            </a:r>
          </a:p>
          <a:p>
            <a:pPr algn="r"/>
            <a:r>
              <a:rPr lang="en-US" sz="2000" dirty="0">
                <a:solidFill>
                  <a:schemeClr val="bg1"/>
                </a:solidFill>
                <a:latin typeface="Raleway" pitchFamily="2" charset="0"/>
                <a:cs typeface="Poppins Light" panose="00000400000000000000" pitchFamily="2" charset="0"/>
              </a:rPr>
              <a:t>Evgeniya Englert</a:t>
            </a:r>
          </a:p>
        </p:txBody>
      </p:sp>
    </p:spTree>
    <p:extLst>
      <p:ext uri="{BB962C8B-B14F-4D97-AF65-F5344CB8AC3E}">
        <p14:creationId xmlns:p14="http://schemas.microsoft.com/office/powerpoint/2010/main" val="11287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DBDB1-76D9-28F9-BE7C-21806C1A0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9DCB1F4-2E42-C248-C76F-EEB46F6D36C2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23F2BE-877D-57F5-5310-256CFD732545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15756A-1B29-6C4A-259F-F4965EF005DB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4CFCEA-9C87-5DB9-50E0-12A5FC7CDC78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C7EA14B-88A3-5B55-0F2E-4EA8E0DF7B99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FBBC747-E46E-A710-9386-A06EC0504566}"/>
              </a:ext>
            </a:extLst>
          </p:cNvPr>
          <p:cNvSpPr txBox="1"/>
          <p:nvPr/>
        </p:nvSpPr>
        <p:spPr>
          <a:xfrm>
            <a:off x="526307" y="514852"/>
            <a:ext cx="10578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Resources</a:t>
            </a:r>
            <a:endParaRPr lang="en-PK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84FE468C-7C8B-6449-8592-6983EBD769F6}"/>
              </a:ext>
            </a:extLst>
          </p:cNvPr>
          <p:cNvSpPr txBox="1"/>
          <p:nvPr/>
        </p:nvSpPr>
        <p:spPr>
          <a:xfrm>
            <a:off x="602557" y="1790090"/>
            <a:ext cx="917860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</a:pPr>
            <a:r>
              <a:rPr lang="en-US" sz="2400" i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Project Report: [</a:t>
            </a:r>
            <a:r>
              <a:rPr lang="en-US" sz="2400" i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  <a:hlinkClick r:id="rId2"/>
              </a:rPr>
              <a:t>Link</a:t>
            </a:r>
            <a:r>
              <a:rPr lang="en-US" sz="2400" i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]</a:t>
            </a:r>
          </a:p>
          <a:p>
            <a:pPr lvl="0">
              <a:spcAft>
                <a:spcPts val="600"/>
              </a:spcAft>
            </a:pPr>
            <a:endParaRPr lang="en-US" sz="2400" i="1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lvl="0">
              <a:spcAft>
                <a:spcPts val="600"/>
              </a:spcAft>
            </a:pPr>
            <a:r>
              <a:rPr lang="en-US" sz="2400" i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Source Code &amp; Technical Details: [</a:t>
            </a:r>
            <a:r>
              <a:rPr lang="en-US" sz="2400" i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  <a:hlinkClick r:id="rId3"/>
              </a:rPr>
              <a:t>GitHub</a:t>
            </a:r>
            <a:r>
              <a:rPr lang="en-US" sz="2400" i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]</a:t>
            </a:r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167F24BA-20D4-7D94-8A1A-EA440581A116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14" name="Holder 6">
            <a:extLst>
              <a:ext uri="{FF2B5EF4-FFF2-40B4-BE49-F238E27FC236}">
                <a16:creationId xmlns:a16="http://schemas.microsoft.com/office/drawing/2014/main" id="{8B6CB3A3-846A-25C0-D8D5-401461CC7A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15</a:t>
            </a:fld>
            <a:endParaRPr spc="-15" dirty="0"/>
          </a:p>
        </p:txBody>
      </p:sp>
    </p:spTree>
    <p:extLst>
      <p:ext uri="{BB962C8B-B14F-4D97-AF65-F5344CB8AC3E}">
        <p14:creationId xmlns:p14="http://schemas.microsoft.com/office/powerpoint/2010/main" val="2990832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01180-CFAB-113D-7FC8-9D3F2786A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40F3090-D783-273F-D8F3-45E0327C8CCF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68607D-AEDC-B46E-4172-8D990DE04ADF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F364DA-6B7D-82BE-7583-41181DFE67DE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BFF0DD-FBB5-5DFD-EC8F-A3C001B71D3F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E2040D-E48E-E1DE-452E-A13095662089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930318B-7118-F55A-CB86-D87FE6DCB584}"/>
              </a:ext>
            </a:extLst>
          </p:cNvPr>
          <p:cNvSpPr txBox="1"/>
          <p:nvPr/>
        </p:nvSpPr>
        <p:spPr>
          <a:xfrm>
            <a:off x="526307" y="514852"/>
            <a:ext cx="10578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Collaborative Filtering Approaches</a:t>
            </a:r>
          </a:p>
        </p:txBody>
      </p:sp>
      <p:grpSp>
        <p:nvGrpSpPr>
          <p:cNvPr id="4" name="Group 42">
            <a:extLst>
              <a:ext uri="{FF2B5EF4-FFF2-40B4-BE49-F238E27FC236}">
                <a16:creationId xmlns:a16="http://schemas.microsoft.com/office/drawing/2014/main" id="{1EF945D8-FA02-0431-E9EA-E8EF902B19AE}"/>
              </a:ext>
            </a:extLst>
          </p:cNvPr>
          <p:cNvGrpSpPr/>
          <p:nvPr/>
        </p:nvGrpSpPr>
        <p:grpSpPr>
          <a:xfrm>
            <a:off x="689074" y="1798222"/>
            <a:ext cx="3557049" cy="4087012"/>
            <a:chOff x="845001" y="1798222"/>
            <a:chExt cx="3136803" cy="3926304"/>
          </a:xfrm>
        </p:grpSpPr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id="{A86932A9-B77A-B887-AAE0-6B50789A5A19}"/>
                </a:ext>
              </a:extLst>
            </p:cNvPr>
            <p:cNvGrpSpPr/>
            <p:nvPr/>
          </p:nvGrpSpPr>
          <p:grpSpPr>
            <a:xfrm>
              <a:off x="845001" y="1798222"/>
              <a:ext cx="3136803" cy="3926304"/>
              <a:chOff x="443864" y="1902997"/>
              <a:chExt cx="2693618" cy="3371573"/>
            </a:xfrm>
          </p:grpSpPr>
          <p:sp>
            <p:nvSpPr>
              <p:cNvPr id="25" name="Rectangle: Rounded Corners 29">
                <a:extLst>
                  <a:ext uri="{FF2B5EF4-FFF2-40B4-BE49-F238E27FC236}">
                    <a16:creationId xmlns:a16="http://schemas.microsoft.com/office/drawing/2014/main" id="{5F1CC35C-5027-7E1B-4110-9090E811FF6A}"/>
                  </a:ext>
                </a:extLst>
              </p:cNvPr>
              <p:cNvSpPr/>
              <p:nvPr/>
            </p:nvSpPr>
            <p:spPr>
              <a:xfrm>
                <a:off x="443864" y="2028847"/>
                <a:ext cx="2693618" cy="3245723"/>
              </a:xfrm>
              <a:prstGeom prst="roundRect">
                <a:avLst>
                  <a:gd name="adj" fmla="val 7576"/>
                </a:avLst>
              </a:prstGeom>
              <a:solidFill>
                <a:schemeClr val="tx1"/>
              </a:solidFill>
              <a:ln>
                <a:solidFill>
                  <a:srgbClr val="DCA523"/>
                </a:solidFill>
              </a:ln>
              <a:effectLst>
                <a:outerShdw blurRad="2032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6" name="Group 30">
                <a:extLst>
                  <a:ext uri="{FF2B5EF4-FFF2-40B4-BE49-F238E27FC236}">
                    <a16:creationId xmlns:a16="http://schemas.microsoft.com/office/drawing/2014/main" id="{24A88CCA-AE14-9E66-9228-D2B8CDBE1A86}"/>
                  </a:ext>
                </a:extLst>
              </p:cNvPr>
              <p:cNvGrpSpPr/>
              <p:nvPr/>
            </p:nvGrpSpPr>
            <p:grpSpPr>
              <a:xfrm>
                <a:off x="1141673" y="1902997"/>
                <a:ext cx="1298000" cy="836323"/>
                <a:chOff x="1320266" y="1902997"/>
                <a:chExt cx="1298000" cy="836323"/>
              </a:xfrm>
            </p:grpSpPr>
            <p:sp>
              <p:nvSpPr>
                <p:cNvPr id="27" name="Freeform: Shape 31">
                  <a:extLst>
                    <a:ext uri="{FF2B5EF4-FFF2-40B4-BE49-F238E27FC236}">
                      <a16:creationId xmlns:a16="http://schemas.microsoft.com/office/drawing/2014/main" id="{CCF0D1CF-3B53-C7F2-D960-05053FC3EFCC}"/>
                    </a:ext>
                  </a:extLst>
                </p:cNvPr>
                <p:cNvSpPr/>
                <p:nvPr/>
              </p:nvSpPr>
              <p:spPr>
                <a:xfrm rot="1893790" flipH="1">
                  <a:off x="1320266" y="1943434"/>
                  <a:ext cx="184412" cy="144355"/>
                </a:xfrm>
                <a:custGeom>
                  <a:avLst/>
                  <a:gdLst>
                    <a:gd name="connsiteX0" fmla="*/ 184935 w 184935"/>
                    <a:gd name="connsiteY0" fmla="*/ 0 h 144764"/>
                    <a:gd name="connsiteX1" fmla="*/ 184935 w 184935"/>
                    <a:gd name="connsiteY1" fmla="*/ 144764 h 144764"/>
                    <a:gd name="connsiteX2" fmla="*/ 0 w 184935"/>
                    <a:gd name="connsiteY2" fmla="*/ 31155 h 144764"/>
                    <a:gd name="connsiteX3" fmla="*/ 0 w 184935"/>
                    <a:gd name="connsiteY3" fmla="*/ 0 h 14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935" h="144764">
                      <a:moveTo>
                        <a:pt x="184935" y="0"/>
                      </a:moveTo>
                      <a:lnTo>
                        <a:pt x="184935" y="144764"/>
                      </a:lnTo>
                      <a:lnTo>
                        <a:pt x="0" y="311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A132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Freeform: Shape 32">
                  <a:extLst>
                    <a:ext uri="{FF2B5EF4-FFF2-40B4-BE49-F238E27FC236}">
                      <a16:creationId xmlns:a16="http://schemas.microsoft.com/office/drawing/2014/main" id="{198D3F7C-EEC5-690F-77FB-E0C404BEE6CE}"/>
                    </a:ext>
                  </a:extLst>
                </p:cNvPr>
                <p:cNvSpPr/>
                <p:nvPr/>
              </p:nvSpPr>
              <p:spPr>
                <a:xfrm rot="19706210">
                  <a:off x="2433854" y="1943434"/>
                  <a:ext cx="184412" cy="144355"/>
                </a:xfrm>
                <a:custGeom>
                  <a:avLst/>
                  <a:gdLst>
                    <a:gd name="connsiteX0" fmla="*/ 184935 w 184935"/>
                    <a:gd name="connsiteY0" fmla="*/ 0 h 144764"/>
                    <a:gd name="connsiteX1" fmla="*/ 184935 w 184935"/>
                    <a:gd name="connsiteY1" fmla="*/ 144764 h 144764"/>
                    <a:gd name="connsiteX2" fmla="*/ 0 w 184935"/>
                    <a:gd name="connsiteY2" fmla="*/ 31155 h 144764"/>
                    <a:gd name="connsiteX3" fmla="*/ 0 w 184935"/>
                    <a:gd name="connsiteY3" fmla="*/ 0 h 14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935" h="144764">
                      <a:moveTo>
                        <a:pt x="184935" y="0"/>
                      </a:moveTo>
                      <a:lnTo>
                        <a:pt x="184935" y="144764"/>
                      </a:lnTo>
                      <a:lnTo>
                        <a:pt x="0" y="311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A132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: Top Corners Rounded 33">
                  <a:extLst>
                    <a:ext uri="{FF2B5EF4-FFF2-40B4-BE49-F238E27FC236}">
                      <a16:creationId xmlns:a16="http://schemas.microsoft.com/office/drawing/2014/main" id="{C5DF903A-1EF4-0F39-9CB4-105A180160BB}"/>
                    </a:ext>
                  </a:extLst>
                </p:cNvPr>
                <p:cNvSpPr/>
                <p:nvPr/>
              </p:nvSpPr>
              <p:spPr>
                <a:xfrm rot="10800000">
                  <a:off x="1372511" y="1902997"/>
                  <a:ext cx="1192094" cy="836323"/>
                </a:xfrm>
                <a:prstGeom prst="round2SameRect">
                  <a:avLst/>
                </a:prstGeom>
                <a:solidFill>
                  <a:schemeClr val="tx1"/>
                </a:solidFill>
                <a:ln>
                  <a:solidFill>
                    <a:srgbClr val="DCA52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1" name="TextBox 34">
              <a:extLst>
                <a:ext uri="{FF2B5EF4-FFF2-40B4-BE49-F238E27FC236}">
                  <a16:creationId xmlns:a16="http://schemas.microsoft.com/office/drawing/2014/main" id="{15B9A085-0E5C-563D-42E5-899D7FE25752}"/>
                </a:ext>
              </a:extLst>
            </p:cNvPr>
            <p:cNvSpPr txBox="1"/>
            <p:nvPr/>
          </p:nvSpPr>
          <p:spPr>
            <a:xfrm>
              <a:off x="2047314" y="1952515"/>
              <a:ext cx="7409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DCA523"/>
                  </a:solidFill>
                  <a:latin typeface="Raleway ExtraBold" pitchFamily="2" charset="0"/>
                </a:rPr>
                <a:t>01.</a:t>
              </a:r>
            </a:p>
          </p:txBody>
        </p:sp>
        <p:sp>
          <p:nvSpPr>
            <p:cNvPr id="24" name="TextBox 38">
              <a:extLst>
                <a:ext uri="{FF2B5EF4-FFF2-40B4-BE49-F238E27FC236}">
                  <a16:creationId xmlns:a16="http://schemas.microsoft.com/office/drawing/2014/main" id="{4326957F-CED0-C05A-9CA6-AF56EC757161}"/>
                </a:ext>
              </a:extLst>
            </p:cNvPr>
            <p:cNvSpPr txBox="1"/>
            <p:nvPr/>
          </p:nvSpPr>
          <p:spPr>
            <a:xfrm>
              <a:off x="977008" y="2893333"/>
              <a:ext cx="2902160" cy="25427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000" b="1" dirty="0">
                  <a:solidFill>
                    <a:srgbClr val="DCA523"/>
                  </a:solidFill>
                  <a:latin typeface="Raleway" pitchFamily="2" charset="0"/>
                </a:rPr>
                <a:t>User-Based (Cosine)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solidFill>
                    <a:schemeClr val="bg1"/>
                  </a:solidFill>
                  <a:latin typeface="Raleway" pitchFamily="2" charset="0"/>
                </a:rPr>
                <a:t>Finds nearest neighbors based on rating similarity</a:t>
              </a:r>
            </a:p>
            <a:p>
              <a:pPr>
                <a:spcAft>
                  <a:spcPts val="600"/>
                </a:spcAft>
              </a:pPr>
              <a:endParaRPr lang="en-US" sz="800" dirty="0">
                <a:solidFill>
                  <a:schemeClr val="bg1"/>
                </a:solidFill>
                <a:latin typeface="Raleway" pitchFamily="2" charset="0"/>
              </a:endParaRPr>
            </a:p>
            <a:p>
              <a:pPr>
                <a:spcAft>
                  <a:spcPts val="600"/>
                </a:spcAft>
              </a:pPr>
              <a:r>
                <a:rPr lang="en-US" sz="2000" dirty="0">
                  <a:solidFill>
                    <a:schemeClr val="bg1"/>
                  </a:solidFill>
                  <a:latin typeface="Raleway" pitchFamily="2" charset="0"/>
                </a:rPr>
                <a:t>High Recall and F1-score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solidFill>
                    <a:schemeClr val="bg1"/>
                  </a:solidFill>
                  <a:latin typeface="Raleway" pitchFamily="2" charset="0"/>
                </a:rPr>
                <a:t>Balanced execution time</a:t>
              </a:r>
            </a:p>
            <a:p>
              <a:pPr>
                <a:spcAft>
                  <a:spcPts val="600"/>
                </a:spcAft>
              </a:pPr>
              <a:endParaRPr lang="en-US" sz="800" dirty="0">
                <a:solidFill>
                  <a:schemeClr val="bg1"/>
                </a:solidFill>
                <a:latin typeface="Raleway" pitchFamily="2" charset="0"/>
              </a:endParaRPr>
            </a:p>
            <a:p>
              <a:pPr>
                <a:spcAft>
                  <a:spcPts val="600"/>
                </a:spcAft>
              </a:pPr>
              <a:r>
                <a:rPr lang="en-US" sz="2000" dirty="0">
                  <a:solidFill>
                    <a:schemeClr val="bg1"/>
                  </a:solidFill>
                  <a:latin typeface="Raleway" pitchFamily="2" charset="0"/>
                </a:rPr>
                <a:t>Selected as final model</a:t>
              </a:r>
            </a:p>
          </p:txBody>
        </p:sp>
      </p:grpSp>
      <p:grpSp>
        <p:nvGrpSpPr>
          <p:cNvPr id="30" name="Group 43">
            <a:extLst>
              <a:ext uri="{FF2B5EF4-FFF2-40B4-BE49-F238E27FC236}">
                <a16:creationId xmlns:a16="http://schemas.microsoft.com/office/drawing/2014/main" id="{D5AC2B40-3BDE-0459-AEB2-26F9661808CB}"/>
              </a:ext>
            </a:extLst>
          </p:cNvPr>
          <p:cNvGrpSpPr/>
          <p:nvPr/>
        </p:nvGrpSpPr>
        <p:grpSpPr>
          <a:xfrm>
            <a:off x="4371672" y="1798222"/>
            <a:ext cx="3557049" cy="4087012"/>
            <a:chOff x="4527599" y="1798222"/>
            <a:chExt cx="3136803" cy="3926304"/>
          </a:xfrm>
        </p:grpSpPr>
        <p:grpSp>
          <p:nvGrpSpPr>
            <p:cNvPr id="31" name="Group 9">
              <a:extLst>
                <a:ext uri="{FF2B5EF4-FFF2-40B4-BE49-F238E27FC236}">
                  <a16:creationId xmlns:a16="http://schemas.microsoft.com/office/drawing/2014/main" id="{270A65A1-CAAF-3E51-94F0-CBA4CB8C4079}"/>
                </a:ext>
              </a:extLst>
            </p:cNvPr>
            <p:cNvGrpSpPr/>
            <p:nvPr/>
          </p:nvGrpSpPr>
          <p:grpSpPr>
            <a:xfrm>
              <a:off x="4527599" y="1798222"/>
              <a:ext cx="3136803" cy="3926304"/>
              <a:chOff x="443864" y="1902997"/>
              <a:chExt cx="2693618" cy="3371573"/>
            </a:xfrm>
          </p:grpSpPr>
          <p:sp>
            <p:nvSpPr>
              <p:cNvPr id="46" name="Rectangle: Rounded Corners 24">
                <a:extLst>
                  <a:ext uri="{FF2B5EF4-FFF2-40B4-BE49-F238E27FC236}">
                    <a16:creationId xmlns:a16="http://schemas.microsoft.com/office/drawing/2014/main" id="{AD0F56FA-B44A-4E4D-E0AA-36293FC0F583}"/>
                  </a:ext>
                </a:extLst>
              </p:cNvPr>
              <p:cNvSpPr/>
              <p:nvPr/>
            </p:nvSpPr>
            <p:spPr>
              <a:xfrm>
                <a:off x="443864" y="2028847"/>
                <a:ext cx="2693618" cy="3245723"/>
              </a:xfrm>
              <a:prstGeom prst="roundRect">
                <a:avLst>
                  <a:gd name="adj" fmla="val 7576"/>
                </a:avLst>
              </a:prstGeom>
              <a:solidFill>
                <a:schemeClr val="tx1"/>
              </a:solidFill>
              <a:ln>
                <a:solidFill>
                  <a:srgbClr val="DCA523"/>
                </a:solidFill>
              </a:ln>
              <a:effectLst>
                <a:outerShdw blurRad="2032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7" name="Group 25">
                <a:extLst>
                  <a:ext uri="{FF2B5EF4-FFF2-40B4-BE49-F238E27FC236}">
                    <a16:creationId xmlns:a16="http://schemas.microsoft.com/office/drawing/2014/main" id="{306038E1-1D46-8903-A7C8-2FD5CBAA54ED}"/>
                  </a:ext>
                </a:extLst>
              </p:cNvPr>
              <p:cNvGrpSpPr/>
              <p:nvPr/>
            </p:nvGrpSpPr>
            <p:grpSpPr>
              <a:xfrm>
                <a:off x="1141673" y="1902997"/>
                <a:ext cx="1298000" cy="836323"/>
                <a:chOff x="1320266" y="1902997"/>
                <a:chExt cx="1298000" cy="836323"/>
              </a:xfrm>
            </p:grpSpPr>
            <p:sp>
              <p:nvSpPr>
                <p:cNvPr id="48" name="Freeform: Shape 26">
                  <a:extLst>
                    <a:ext uri="{FF2B5EF4-FFF2-40B4-BE49-F238E27FC236}">
                      <a16:creationId xmlns:a16="http://schemas.microsoft.com/office/drawing/2014/main" id="{DC2E3FC2-0893-330F-6BCB-A327138F2529}"/>
                    </a:ext>
                  </a:extLst>
                </p:cNvPr>
                <p:cNvSpPr/>
                <p:nvPr/>
              </p:nvSpPr>
              <p:spPr>
                <a:xfrm rot="1893790" flipH="1">
                  <a:off x="1320266" y="1943434"/>
                  <a:ext cx="184412" cy="144355"/>
                </a:xfrm>
                <a:custGeom>
                  <a:avLst/>
                  <a:gdLst>
                    <a:gd name="connsiteX0" fmla="*/ 184935 w 184935"/>
                    <a:gd name="connsiteY0" fmla="*/ 0 h 144764"/>
                    <a:gd name="connsiteX1" fmla="*/ 184935 w 184935"/>
                    <a:gd name="connsiteY1" fmla="*/ 144764 h 144764"/>
                    <a:gd name="connsiteX2" fmla="*/ 0 w 184935"/>
                    <a:gd name="connsiteY2" fmla="*/ 31155 h 144764"/>
                    <a:gd name="connsiteX3" fmla="*/ 0 w 184935"/>
                    <a:gd name="connsiteY3" fmla="*/ 0 h 14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935" h="144764">
                      <a:moveTo>
                        <a:pt x="184935" y="0"/>
                      </a:moveTo>
                      <a:lnTo>
                        <a:pt x="184935" y="144764"/>
                      </a:lnTo>
                      <a:lnTo>
                        <a:pt x="0" y="311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A132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Freeform: Shape 27">
                  <a:extLst>
                    <a:ext uri="{FF2B5EF4-FFF2-40B4-BE49-F238E27FC236}">
                      <a16:creationId xmlns:a16="http://schemas.microsoft.com/office/drawing/2014/main" id="{304B3706-B423-EED0-C0CB-572A43DD3826}"/>
                    </a:ext>
                  </a:extLst>
                </p:cNvPr>
                <p:cNvSpPr/>
                <p:nvPr/>
              </p:nvSpPr>
              <p:spPr>
                <a:xfrm rot="19706210">
                  <a:off x="2433854" y="1943434"/>
                  <a:ext cx="184412" cy="144355"/>
                </a:xfrm>
                <a:custGeom>
                  <a:avLst/>
                  <a:gdLst>
                    <a:gd name="connsiteX0" fmla="*/ 184935 w 184935"/>
                    <a:gd name="connsiteY0" fmla="*/ 0 h 144764"/>
                    <a:gd name="connsiteX1" fmla="*/ 184935 w 184935"/>
                    <a:gd name="connsiteY1" fmla="*/ 144764 h 144764"/>
                    <a:gd name="connsiteX2" fmla="*/ 0 w 184935"/>
                    <a:gd name="connsiteY2" fmla="*/ 31155 h 144764"/>
                    <a:gd name="connsiteX3" fmla="*/ 0 w 184935"/>
                    <a:gd name="connsiteY3" fmla="*/ 0 h 14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935" h="144764">
                      <a:moveTo>
                        <a:pt x="184935" y="0"/>
                      </a:moveTo>
                      <a:lnTo>
                        <a:pt x="184935" y="144764"/>
                      </a:lnTo>
                      <a:lnTo>
                        <a:pt x="0" y="311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A132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Rectangle: Top Corners Rounded 28">
                  <a:extLst>
                    <a:ext uri="{FF2B5EF4-FFF2-40B4-BE49-F238E27FC236}">
                      <a16:creationId xmlns:a16="http://schemas.microsoft.com/office/drawing/2014/main" id="{F62DD69D-26E9-B1E2-40E8-E120481692F7}"/>
                    </a:ext>
                  </a:extLst>
                </p:cNvPr>
                <p:cNvSpPr/>
                <p:nvPr/>
              </p:nvSpPr>
              <p:spPr>
                <a:xfrm rot="10800000">
                  <a:off x="1372511" y="1902997"/>
                  <a:ext cx="1192094" cy="836323"/>
                </a:xfrm>
                <a:prstGeom prst="round2SameRect">
                  <a:avLst/>
                </a:prstGeom>
                <a:solidFill>
                  <a:schemeClr val="tx1"/>
                </a:solidFill>
                <a:ln>
                  <a:solidFill>
                    <a:srgbClr val="DCA52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D837FD7B-E858-F62E-62FA-0128D2131294}"/>
                </a:ext>
              </a:extLst>
            </p:cNvPr>
            <p:cNvSpPr txBox="1"/>
            <p:nvPr/>
          </p:nvSpPr>
          <p:spPr>
            <a:xfrm>
              <a:off x="5715640" y="1952515"/>
              <a:ext cx="7713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DCA523"/>
                  </a:solidFill>
                  <a:latin typeface="Raleway ExtraBold" pitchFamily="2" charset="0"/>
                </a:rPr>
                <a:t>02.</a:t>
              </a:r>
            </a:p>
          </p:txBody>
        </p:sp>
        <p:sp>
          <p:nvSpPr>
            <p:cNvPr id="39" name="TextBox 40">
              <a:extLst>
                <a:ext uri="{FF2B5EF4-FFF2-40B4-BE49-F238E27FC236}">
                  <a16:creationId xmlns:a16="http://schemas.microsoft.com/office/drawing/2014/main" id="{15288DDE-2BF2-A18C-7F3F-ADDE8717703F}"/>
                </a:ext>
              </a:extLst>
            </p:cNvPr>
            <p:cNvSpPr txBox="1"/>
            <p:nvPr/>
          </p:nvSpPr>
          <p:spPr>
            <a:xfrm>
              <a:off x="4644096" y="2903629"/>
              <a:ext cx="2902160" cy="10496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000" b="1" dirty="0">
                  <a:solidFill>
                    <a:srgbClr val="DCA523"/>
                  </a:solidFill>
                  <a:latin typeface="Raleway" pitchFamily="2" charset="0"/>
                </a:rPr>
                <a:t>User-Based (Pearson)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solidFill>
                    <a:schemeClr val="bg1"/>
                  </a:solidFill>
                  <a:latin typeface="Raleway" pitchFamily="2" charset="0"/>
                </a:rPr>
                <a:t>Adjusts rating bias but slow and low precision</a:t>
              </a:r>
            </a:p>
          </p:txBody>
        </p:sp>
      </p:grpSp>
      <p:grpSp>
        <p:nvGrpSpPr>
          <p:cNvPr id="52" name="Group 44">
            <a:extLst>
              <a:ext uri="{FF2B5EF4-FFF2-40B4-BE49-F238E27FC236}">
                <a16:creationId xmlns:a16="http://schemas.microsoft.com/office/drawing/2014/main" id="{92CC3C69-3FD3-1F40-4D8A-E2C93286696C}"/>
              </a:ext>
            </a:extLst>
          </p:cNvPr>
          <p:cNvGrpSpPr/>
          <p:nvPr/>
        </p:nvGrpSpPr>
        <p:grpSpPr>
          <a:xfrm>
            <a:off x="8054269" y="1798222"/>
            <a:ext cx="3557049" cy="4087012"/>
            <a:chOff x="8210196" y="1798222"/>
            <a:chExt cx="3136803" cy="3926304"/>
          </a:xfrm>
        </p:grpSpPr>
        <p:grpSp>
          <p:nvGrpSpPr>
            <p:cNvPr id="53" name="Group 10">
              <a:extLst>
                <a:ext uri="{FF2B5EF4-FFF2-40B4-BE49-F238E27FC236}">
                  <a16:creationId xmlns:a16="http://schemas.microsoft.com/office/drawing/2014/main" id="{50090D05-E0B8-9B53-C909-8EFB053FC8BA}"/>
                </a:ext>
              </a:extLst>
            </p:cNvPr>
            <p:cNvGrpSpPr/>
            <p:nvPr/>
          </p:nvGrpSpPr>
          <p:grpSpPr>
            <a:xfrm>
              <a:off x="8210196" y="1798222"/>
              <a:ext cx="3136803" cy="3926304"/>
              <a:chOff x="443864" y="1902997"/>
              <a:chExt cx="2693618" cy="3371573"/>
            </a:xfrm>
          </p:grpSpPr>
          <p:sp>
            <p:nvSpPr>
              <p:cNvPr id="56" name="Rectangle: Rounded Corners 13">
                <a:extLst>
                  <a:ext uri="{FF2B5EF4-FFF2-40B4-BE49-F238E27FC236}">
                    <a16:creationId xmlns:a16="http://schemas.microsoft.com/office/drawing/2014/main" id="{C2B0E09A-1D25-6202-DA12-7F7079393838}"/>
                  </a:ext>
                </a:extLst>
              </p:cNvPr>
              <p:cNvSpPr/>
              <p:nvPr/>
            </p:nvSpPr>
            <p:spPr>
              <a:xfrm>
                <a:off x="443864" y="2028847"/>
                <a:ext cx="2693618" cy="3245723"/>
              </a:xfrm>
              <a:prstGeom prst="roundRect">
                <a:avLst>
                  <a:gd name="adj" fmla="val 7576"/>
                </a:avLst>
              </a:prstGeom>
              <a:solidFill>
                <a:schemeClr val="tx1"/>
              </a:solidFill>
              <a:ln>
                <a:solidFill>
                  <a:srgbClr val="DCA523"/>
                </a:solidFill>
              </a:ln>
              <a:effectLst>
                <a:outerShdw blurRad="2032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7" name="Group 14">
                <a:extLst>
                  <a:ext uri="{FF2B5EF4-FFF2-40B4-BE49-F238E27FC236}">
                    <a16:creationId xmlns:a16="http://schemas.microsoft.com/office/drawing/2014/main" id="{839DB55F-D034-515A-3604-B106E5EC5C7C}"/>
                  </a:ext>
                </a:extLst>
              </p:cNvPr>
              <p:cNvGrpSpPr/>
              <p:nvPr/>
            </p:nvGrpSpPr>
            <p:grpSpPr>
              <a:xfrm>
                <a:off x="1141673" y="1902997"/>
                <a:ext cx="1298000" cy="836323"/>
                <a:chOff x="1320266" y="1902997"/>
                <a:chExt cx="1298000" cy="836323"/>
              </a:xfrm>
            </p:grpSpPr>
            <p:sp>
              <p:nvSpPr>
                <p:cNvPr id="58" name="Freeform: Shape 21">
                  <a:extLst>
                    <a:ext uri="{FF2B5EF4-FFF2-40B4-BE49-F238E27FC236}">
                      <a16:creationId xmlns:a16="http://schemas.microsoft.com/office/drawing/2014/main" id="{948B14D5-E33F-F98C-B6BE-FD95AE7421C9}"/>
                    </a:ext>
                  </a:extLst>
                </p:cNvPr>
                <p:cNvSpPr/>
                <p:nvPr/>
              </p:nvSpPr>
              <p:spPr>
                <a:xfrm rot="1893790" flipH="1">
                  <a:off x="1320266" y="1943434"/>
                  <a:ext cx="184412" cy="144355"/>
                </a:xfrm>
                <a:custGeom>
                  <a:avLst/>
                  <a:gdLst>
                    <a:gd name="connsiteX0" fmla="*/ 184935 w 184935"/>
                    <a:gd name="connsiteY0" fmla="*/ 0 h 144764"/>
                    <a:gd name="connsiteX1" fmla="*/ 184935 w 184935"/>
                    <a:gd name="connsiteY1" fmla="*/ 144764 h 144764"/>
                    <a:gd name="connsiteX2" fmla="*/ 0 w 184935"/>
                    <a:gd name="connsiteY2" fmla="*/ 31155 h 144764"/>
                    <a:gd name="connsiteX3" fmla="*/ 0 w 184935"/>
                    <a:gd name="connsiteY3" fmla="*/ 0 h 14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935" h="144764">
                      <a:moveTo>
                        <a:pt x="184935" y="0"/>
                      </a:moveTo>
                      <a:lnTo>
                        <a:pt x="184935" y="144764"/>
                      </a:lnTo>
                      <a:lnTo>
                        <a:pt x="0" y="311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A132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Freeform: Shape 22">
                  <a:extLst>
                    <a:ext uri="{FF2B5EF4-FFF2-40B4-BE49-F238E27FC236}">
                      <a16:creationId xmlns:a16="http://schemas.microsoft.com/office/drawing/2014/main" id="{36F4832D-D838-630D-C3D2-E1EA2909E4D0}"/>
                    </a:ext>
                  </a:extLst>
                </p:cNvPr>
                <p:cNvSpPr/>
                <p:nvPr/>
              </p:nvSpPr>
              <p:spPr>
                <a:xfrm rot="19706210">
                  <a:off x="2433854" y="1943434"/>
                  <a:ext cx="184412" cy="144355"/>
                </a:xfrm>
                <a:custGeom>
                  <a:avLst/>
                  <a:gdLst>
                    <a:gd name="connsiteX0" fmla="*/ 184935 w 184935"/>
                    <a:gd name="connsiteY0" fmla="*/ 0 h 144764"/>
                    <a:gd name="connsiteX1" fmla="*/ 184935 w 184935"/>
                    <a:gd name="connsiteY1" fmla="*/ 144764 h 144764"/>
                    <a:gd name="connsiteX2" fmla="*/ 0 w 184935"/>
                    <a:gd name="connsiteY2" fmla="*/ 31155 h 144764"/>
                    <a:gd name="connsiteX3" fmla="*/ 0 w 184935"/>
                    <a:gd name="connsiteY3" fmla="*/ 0 h 14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935" h="144764">
                      <a:moveTo>
                        <a:pt x="184935" y="0"/>
                      </a:moveTo>
                      <a:lnTo>
                        <a:pt x="184935" y="144764"/>
                      </a:lnTo>
                      <a:lnTo>
                        <a:pt x="0" y="311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A132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: Top Corners Rounded 23">
                  <a:extLst>
                    <a:ext uri="{FF2B5EF4-FFF2-40B4-BE49-F238E27FC236}">
                      <a16:creationId xmlns:a16="http://schemas.microsoft.com/office/drawing/2014/main" id="{D015E71C-EFC1-3C31-E1FC-D47DBEED869F}"/>
                    </a:ext>
                  </a:extLst>
                </p:cNvPr>
                <p:cNvSpPr/>
                <p:nvPr/>
              </p:nvSpPr>
              <p:spPr>
                <a:xfrm rot="10800000">
                  <a:off x="1372511" y="1902997"/>
                  <a:ext cx="1192094" cy="836323"/>
                </a:xfrm>
                <a:prstGeom prst="round2SameRect">
                  <a:avLst/>
                </a:prstGeom>
                <a:solidFill>
                  <a:schemeClr val="tx1"/>
                </a:solidFill>
                <a:ln>
                  <a:solidFill>
                    <a:srgbClr val="DCA52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4" name="TextBox 36">
              <a:extLst>
                <a:ext uri="{FF2B5EF4-FFF2-40B4-BE49-F238E27FC236}">
                  <a16:creationId xmlns:a16="http://schemas.microsoft.com/office/drawing/2014/main" id="{5502139F-AA2F-D135-E992-EC11E129C8C7}"/>
                </a:ext>
              </a:extLst>
            </p:cNvPr>
            <p:cNvSpPr txBox="1"/>
            <p:nvPr/>
          </p:nvSpPr>
          <p:spPr>
            <a:xfrm>
              <a:off x="9383966" y="1952515"/>
              <a:ext cx="76815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DCA523"/>
                  </a:solidFill>
                  <a:latin typeface="Raleway ExtraBold" pitchFamily="2" charset="0"/>
                </a:rPr>
                <a:t>03.</a:t>
              </a:r>
            </a:p>
          </p:txBody>
        </p:sp>
        <p:sp>
          <p:nvSpPr>
            <p:cNvPr id="55" name="TextBox 41">
              <a:extLst>
                <a:ext uri="{FF2B5EF4-FFF2-40B4-BE49-F238E27FC236}">
                  <a16:creationId xmlns:a16="http://schemas.microsoft.com/office/drawing/2014/main" id="{15D3FEA1-E22B-D169-52B9-333D25B91145}"/>
                </a:ext>
              </a:extLst>
            </p:cNvPr>
            <p:cNvSpPr txBox="1"/>
            <p:nvPr/>
          </p:nvSpPr>
          <p:spPr>
            <a:xfrm>
              <a:off x="8341192" y="2893333"/>
              <a:ext cx="2763688" cy="26758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000" b="1" dirty="0">
                  <a:solidFill>
                    <a:srgbClr val="DCA523"/>
                  </a:solidFill>
                  <a:latin typeface="Raleway" pitchFamily="2" charset="0"/>
                </a:rPr>
                <a:t>Cluster-Based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solidFill>
                    <a:schemeClr val="bg1"/>
                  </a:solidFill>
                  <a:latin typeface="Raleway" pitchFamily="2" charset="0"/>
                </a:rPr>
                <a:t>Groups users into clusters by rating behavior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solidFill>
                    <a:schemeClr val="bg1"/>
                  </a:solidFill>
                  <a:latin typeface="Raleway" pitchFamily="2" charset="0"/>
                </a:rPr>
                <a:t>Recommendations generated within clusters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solidFill>
                    <a:schemeClr val="bg1"/>
                  </a:solidFill>
                  <a:latin typeface="Raleway" pitchFamily="2" charset="0"/>
                </a:rPr>
                <a:t>Fast but low accuracy</a:t>
              </a:r>
            </a:p>
          </p:txBody>
        </p:sp>
      </p:grpSp>
      <p:sp>
        <p:nvSpPr>
          <p:cNvPr id="88" name="Holder 5">
            <a:extLst>
              <a:ext uri="{FF2B5EF4-FFF2-40B4-BE49-F238E27FC236}">
                <a16:creationId xmlns:a16="http://schemas.microsoft.com/office/drawing/2014/main" id="{56909EB4-1C2D-29CF-F1DD-6D3D569EF14B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89" name="Holder 6">
            <a:extLst>
              <a:ext uri="{FF2B5EF4-FFF2-40B4-BE49-F238E27FC236}">
                <a16:creationId xmlns:a16="http://schemas.microsoft.com/office/drawing/2014/main" id="{58DB32AB-42D7-BC02-C50E-3391237E37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16</a:t>
            </a:fld>
            <a:endParaRPr spc="-15" dirty="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E894CFFC-9992-D462-1C26-780FE56A9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$\rightarrow$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65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11E49-796E-05BE-4E4D-1254452E2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970EC8E-6F5C-2878-FF95-7878CA7E425F}"/>
              </a:ext>
            </a:extLst>
          </p:cNvPr>
          <p:cNvGrpSpPr/>
          <p:nvPr/>
        </p:nvGrpSpPr>
        <p:grpSpPr>
          <a:xfrm>
            <a:off x="689074" y="1305331"/>
            <a:ext cx="872770" cy="152400"/>
            <a:chOff x="1841889" y="2695202"/>
            <a:chExt cx="872770" cy="1524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11F05E9-C1F0-925D-393F-9404F7ABB41A}"/>
                </a:ext>
              </a:extLst>
            </p:cNvPr>
            <p:cNvSpPr/>
            <p:nvPr/>
          </p:nvSpPr>
          <p:spPr>
            <a:xfrm>
              <a:off x="1841889" y="2695202"/>
              <a:ext cx="152400" cy="152400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5600960-93AD-4A63-0F8B-90E2199A23B4}"/>
                </a:ext>
              </a:extLst>
            </p:cNvPr>
            <p:cNvSpPr/>
            <p:nvPr/>
          </p:nvSpPr>
          <p:spPr>
            <a:xfrm>
              <a:off x="2083189" y="2695202"/>
              <a:ext cx="152400" cy="152400"/>
            </a:xfrm>
            <a:prstGeom prst="rect">
              <a:avLst/>
            </a:prstGeom>
            <a:solidFill>
              <a:schemeClr val="bg1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0606578-A8A5-E93C-10E0-E726EE0E3C77}"/>
                </a:ext>
              </a:extLst>
            </p:cNvPr>
            <p:cNvSpPr/>
            <p:nvPr/>
          </p:nvSpPr>
          <p:spPr>
            <a:xfrm>
              <a:off x="2324489" y="2695202"/>
              <a:ext cx="152400" cy="152400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035FF6-990D-300B-BE1A-34DA52FAF482}"/>
                </a:ext>
              </a:extLst>
            </p:cNvPr>
            <p:cNvSpPr/>
            <p:nvPr/>
          </p:nvSpPr>
          <p:spPr>
            <a:xfrm>
              <a:off x="2562259" y="2695202"/>
              <a:ext cx="152400" cy="152400"/>
            </a:xfrm>
            <a:prstGeom prst="rect">
              <a:avLst/>
            </a:pr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429C276-9533-BF68-1063-97001517F502}"/>
              </a:ext>
            </a:extLst>
          </p:cNvPr>
          <p:cNvSpPr txBox="1"/>
          <p:nvPr/>
        </p:nvSpPr>
        <p:spPr>
          <a:xfrm>
            <a:off x="526307" y="514852"/>
            <a:ext cx="10578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Collaborative Filtering Approaches</a:t>
            </a:r>
          </a:p>
        </p:txBody>
      </p:sp>
      <p:grpSp>
        <p:nvGrpSpPr>
          <p:cNvPr id="4" name="Group 42">
            <a:extLst>
              <a:ext uri="{FF2B5EF4-FFF2-40B4-BE49-F238E27FC236}">
                <a16:creationId xmlns:a16="http://schemas.microsoft.com/office/drawing/2014/main" id="{ED5E7D54-49EB-16CD-E96C-DEB4CD9113F0}"/>
              </a:ext>
            </a:extLst>
          </p:cNvPr>
          <p:cNvGrpSpPr/>
          <p:nvPr/>
        </p:nvGrpSpPr>
        <p:grpSpPr>
          <a:xfrm>
            <a:off x="689074" y="1798222"/>
            <a:ext cx="3557049" cy="4087012"/>
            <a:chOff x="845001" y="1798222"/>
            <a:chExt cx="3136803" cy="3926304"/>
          </a:xfrm>
        </p:grpSpPr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id="{72061705-924D-72EF-D592-A76ACAF65FF1}"/>
                </a:ext>
              </a:extLst>
            </p:cNvPr>
            <p:cNvGrpSpPr/>
            <p:nvPr/>
          </p:nvGrpSpPr>
          <p:grpSpPr>
            <a:xfrm>
              <a:off x="845001" y="1798222"/>
              <a:ext cx="3136803" cy="3926304"/>
              <a:chOff x="443864" y="1902997"/>
              <a:chExt cx="2693618" cy="3371573"/>
            </a:xfrm>
          </p:grpSpPr>
          <p:sp>
            <p:nvSpPr>
              <p:cNvPr id="25" name="Rectangle: Rounded Corners 29">
                <a:extLst>
                  <a:ext uri="{FF2B5EF4-FFF2-40B4-BE49-F238E27FC236}">
                    <a16:creationId xmlns:a16="http://schemas.microsoft.com/office/drawing/2014/main" id="{11CBF844-BEF7-4D3F-B9CD-759FAA80DC0B}"/>
                  </a:ext>
                </a:extLst>
              </p:cNvPr>
              <p:cNvSpPr/>
              <p:nvPr/>
            </p:nvSpPr>
            <p:spPr>
              <a:xfrm>
                <a:off x="443864" y="2028847"/>
                <a:ext cx="2693618" cy="3245723"/>
              </a:xfrm>
              <a:prstGeom prst="roundRect">
                <a:avLst>
                  <a:gd name="adj" fmla="val 7576"/>
                </a:avLst>
              </a:prstGeom>
              <a:solidFill>
                <a:schemeClr val="tx1"/>
              </a:solidFill>
              <a:ln>
                <a:solidFill>
                  <a:srgbClr val="DCA523"/>
                </a:solidFill>
              </a:ln>
              <a:effectLst>
                <a:outerShdw blurRad="2032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6" name="Group 30">
                <a:extLst>
                  <a:ext uri="{FF2B5EF4-FFF2-40B4-BE49-F238E27FC236}">
                    <a16:creationId xmlns:a16="http://schemas.microsoft.com/office/drawing/2014/main" id="{BE109282-1B1E-347B-9F28-FE04C5A54D1F}"/>
                  </a:ext>
                </a:extLst>
              </p:cNvPr>
              <p:cNvGrpSpPr/>
              <p:nvPr/>
            </p:nvGrpSpPr>
            <p:grpSpPr>
              <a:xfrm>
                <a:off x="1141673" y="1902997"/>
                <a:ext cx="1298000" cy="836323"/>
                <a:chOff x="1320266" y="1902997"/>
                <a:chExt cx="1298000" cy="836323"/>
              </a:xfrm>
            </p:grpSpPr>
            <p:sp>
              <p:nvSpPr>
                <p:cNvPr id="27" name="Freeform: Shape 31">
                  <a:extLst>
                    <a:ext uri="{FF2B5EF4-FFF2-40B4-BE49-F238E27FC236}">
                      <a16:creationId xmlns:a16="http://schemas.microsoft.com/office/drawing/2014/main" id="{841524BE-040F-D10D-2EC4-CAF20573F979}"/>
                    </a:ext>
                  </a:extLst>
                </p:cNvPr>
                <p:cNvSpPr/>
                <p:nvPr/>
              </p:nvSpPr>
              <p:spPr>
                <a:xfrm rot="1893790" flipH="1">
                  <a:off x="1320266" y="1943434"/>
                  <a:ext cx="184412" cy="144355"/>
                </a:xfrm>
                <a:custGeom>
                  <a:avLst/>
                  <a:gdLst>
                    <a:gd name="connsiteX0" fmla="*/ 184935 w 184935"/>
                    <a:gd name="connsiteY0" fmla="*/ 0 h 144764"/>
                    <a:gd name="connsiteX1" fmla="*/ 184935 w 184935"/>
                    <a:gd name="connsiteY1" fmla="*/ 144764 h 144764"/>
                    <a:gd name="connsiteX2" fmla="*/ 0 w 184935"/>
                    <a:gd name="connsiteY2" fmla="*/ 31155 h 144764"/>
                    <a:gd name="connsiteX3" fmla="*/ 0 w 184935"/>
                    <a:gd name="connsiteY3" fmla="*/ 0 h 14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935" h="144764">
                      <a:moveTo>
                        <a:pt x="184935" y="0"/>
                      </a:moveTo>
                      <a:lnTo>
                        <a:pt x="184935" y="144764"/>
                      </a:lnTo>
                      <a:lnTo>
                        <a:pt x="0" y="311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A132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Freeform: Shape 32">
                  <a:extLst>
                    <a:ext uri="{FF2B5EF4-FFF2-40B4-BE49-F238E27FC236}">
                      <a16:creationId xmlns:a16="http://schemas.microsoft.com/office/drawing/2014/main" id="{39514EA1-49B4-12A1-69CE-9DC2F9E19159}"/>
                    </a:ext>
                  </a:extLst>
                </p:cNvPr>
                <p:cNvSpPr/>
                <p:nvPr/>
              </p:nvSpPr>
              <p:spPr>
                <a:xfrm rot="19706210">
                  <a:off x="2433854" y="1943434"/>
                  <a:ext cx="184412" cy="144355"/>
                </a:xfrm>
                <a:custGeom>
                  <a:avLst/>
                  <a:gdLst>
                    <a:gd name="connsiteX0" fmla="*/ 184935 w 184935"/>
                    <a:gd name="connsiteY0" fmla="*/ 0 h 144764"/>
                    <a:gd name="connsiteX1" fmla="*/ 184935 w 184935"/>
                    <a:gd name="connsiteY1" fmla="*/ 144764 h 144764"/>
                    <a:gd name="connsiteX2" fmla="*/ 0 w 184935"/>
                    <a:gd name="connsiteY2" fmla="*/ 31155 h 144764"/>
                    <a:gd name="connsiteX3" fmla="*/ 0 w 184935"/>
                    <a:gd name="connsiteY3" fmla="*/ 0 h 14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935" h="144764">
                      <a:moveTo>
                        <a:pt x="184935" y="0"/>
                      </a:moveTo>
                      <a:lnTo>
                        <a:pt x="184935" y="144764"/>
                      </a:lnTo>
                      <a:lnTo>
                        <a:pt x="0" y="311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A132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: Top Corners Rounded 33">
                  <a:extLst>
                    <a:ext uri="{FF2B5EF4-FFF2-40B4-BE49-F238E27FC236}">
                      <a16:creationId xmlns:a16="http://schemas.microsoft.com/office/drawing/2014/main" id="{3FFA3B8E-C929-52C9-33F1-CCA7A6A2C4AF}"/>
                    </a:ext>
                  </a:extLst>
                </p:cNvPr>
                <p:cNvSpPr/>
                <p:nvPr/>
              </p:nvSpPr>
              <p:spPr>
                <a:xfrm rot="10800000">
                  <a:off x="1372511" y="1902997"/>
                  <a:ext cx="1192094" cy="836323"/>
                </a:xfrm>
                <a:prstGeom prst="round2SameRect">
                  <a:avLst/>
                </a:prstGeom>
                <a:solidFill>
                  <a:schemeClr val="tx1"/>
                </a:solidFill>
                <a:ln>
                  <a:solidFill>
                    <a:srgbClr val="DCA52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1" name="TextBox 34">
              <a:extLst>
                <a:ext uri="{FF2B5EF4-FFF2-40B4-BE49-F238E27FC236}">
                  <a16:creationId xmlns:a16="http://schemas.microsoft.com/office/drawing/2014/main" id="{18725AD2-786E-B6DE-DE52-8C18A670BFB3}"/>
                </a:ext>
              </a:extLst>
            </p:cNvPr>
            <p:cNvSpPr txBox="1"/>
            <p:nvPr/>
          </p:nvSpPr>
          <p:spPr>
            <a:xfrm>
              <a:off x="1799378" y="1952515"/>
              <a:ext cx="1370077" cy="5617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DCA523"/>
                  </a:solidFill>
                  <a:latin typeface="Raleway ExtraBold" pitchFamily="2" charset="0"/>
                </a:rPr>
                <a:t>04/05.</a:t>
              </a:r>
            </a:p>
          </p:txBody>
        </p:sp>
        <p:sp>
          <p:nvSpPr>
            <p:cNvPr id="24" name="TextBox 38">
              <a:extLst>
                <a:ext uri="{FF2B5EF4-FFF2-40B4-BE49-F238E27FC236}">
                  <a16:creationId xmlns:a16="http://schemas.microsoft.com/office/drawing/2014/main" id="{BFDA4314-84D1-238D-7B77-36C3F944588D}"/>
                </a:ext>
              </a:extLst>
            </p:cNvPr>
            <p:cNvSpPr txBox="1"/>
            <p:nvPr/>
          </p:nvSpPr>
          <p:spPr>
            <a:xfrm>
              <a:off x="961498" y="2903629"/>
              <a:ext cx="2902160" cy="1345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000" b="1" dirty="0">
                  <a:solidFill>
                    <a:srgbClr val="DCA523"/>
                  </a:solidFill>
                  <a:latin typeface="Raleway" pitchFamily="2" charset="0"/>
                </a:rPr>
                <a:t>Hybrid Models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solidFill>
                    <a:schemeClr val="bg1"/>
                  </a:solidFill>
                  <a:latin typeface="Raleway" pitchFamily="2" charset="0"/>
                </a:rPr>
                <a:t>Demographics and clustering added context but higher complexity</a:t>
              </a:r>
            </a:p>
          </p:txBody>
        </p:sp>
      </p:grpSp>
      <p:grpSp>
        <p:nvGrpSpPr>
          <p:cNvPr id="30" name="Group 43">
            <a:extLst>
              <a:ext uri="{FF2B5EF4-FFF2-40B4-BE49-F238E27FC236}">
                <a16:creationId xmlns:a16="http://schemas.microsoft.com/office/drawing/2014/main" id="{CFCCB4BF-D059-99CA-1D7A-153899C77EAC}"/>
              </a:ext>
            </a:extLst>
          </p:cNvPr>
          <p:cNvGrpSpPr/>
          <p:nvPr/>
        </p:nvGrpSpPr>
        <p:grpSpPr>
          <a:xfrm>
            <a:off x="4371672" y="1798222"/>
            <a:ext cx="3557049" cy="4087012"/>
            <a:chOff x="4527599" y="1798222"/>
            <a:chExt cx="3136803" cy="3926304"/>
          </a:xfrm>
        </p:grpSpPr>
        <p:grpSp>
          <p:nvGrpSpPr>
            <p:cNvPr id="31" name="Group 9">
              <a:extLst>
                <a:ext uri="{FF2B5EF4-FFF2-40B4-BE49-F238E27FC236}">
                  <a16:creationId xmlns:a16="http://schemas.microsoft.com/office/drawing/2014/main" id="{F2FB7CE7-A442-4064-B910-6AC13E6926A2}"/>
                </a:ext>
              </a:extLst>
            </p:cNvPr>
            <p:cNvGrpSpPr/>
            <p:nvPr/>
          </p:nvGrpSpPr>
          <p:grpSpPr>
            <a:xfrm>
              <a:off x="4527599" y="1798222"/>
              <a:ext cx="3136803" cy="3926304"/>
              <a:chOff x="443864" y="1902997"/>
              <a:chExt cx="2693618" cy="3371573"/>
            </a:xfrm>
          </p:grpSpPr>
          <p:sp>
            <p:nvSpPr>
              <p:cNvPr id="46" name="Rectangle: Rounded Corners 24">
                <a:extLst>
                  <a:ext uri="{FF2B5EF4-FFF2-40B4-BE49-F238E27FC236}">
                    <a16:creationId xmlns:a16="http://schemas.microsoft.com/office/drawing/2014/main" id="{3A81B21B-FB31-DAD0-310D-D5129E3ED0B7}"/>
                  </a:ext>
                </a:extLst>
              </p:cNvPr>
              <p:cNvSpPr/>
              <p:nvPr/>
            </p:nvSpPr>
            <p:spPr>
              <a:xfrm>
                <a:off x="443864" y="2028847"/>
                <a:ext cx="2693618" cy="3245723"/>
              </a:xfrm>
              <a:prstGeom prst="roundRect">
                <a:avLst>
                  <a:gd name="adj" fmla="val 7576"/>
                </a:avLst>
              </a:prstGeom>
              <a:solidFill>
                <a:schemeClr val="tx1"/>
              </a:solidFill>
              <a:ln>
                <a:solidFill>
                  <a:srgbClr val="DCA523"/>
                </a:solidFill>
              </a:ln>
              <a:effectLst>
                <a:outerShdw blurRad="203200" sx="102000" sy="102000" algn="ctr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7" name="Group 25">
                <a:extLst>
                  <a:ext uri="{FF2B5EF4-FFF2-40B4-BE49-F238E27FC236}">
                    <a16:creationId xmlns:a16="http://schemas.microsoft.com/office/drawing/2014/main" id="{75EECCE4-DD2F-F435-5761-EB5DE2ED9397}"/>
                  </a:ext>
                </a:extLst>
              </p:cNvPr>
              <p:cNvGrpSpPr/>
              <p:nvPr/>
            </p:nvGrpSpPr>
            <p:grpSpPr>
              <a:xfrm>
                <a:off x="1141673" y="1902997"/>
                <a:ext cx="1298000" cy="836323"/>
                <a:chOff x="1320266" y="1902997"/>
                <a:chExt cx="1298000" cy="836323"/>
              </a:xfrm>
            </p:grpSpPr>
            <p:sp>
              <p:nvSpPr>
                <p:cNvPr id="48" name="Freeform: Shape 26">
                  <a:extLst>
                    <a:ext uri="{FF2B5EF4-FFF2-40B4-BE49-F238E27FC236}">
                      <a16:creationId xmlns:a16="http://schemas.microsoft.com/office/drawing/2014/main" id="{2463C20D-5E2A-DAA8-2A69-27B9CE059A5C}"/>
                    </a:ext>
                  </a:extLst>
                </p:cNvPr>
                <p:cNvSpPr/>
                <p:nvPr/>
              </p:nvSpPr>
              <p:spPr>
                <a:xfrm rot="1893790" flipH="1">
                  <a:off x="1320266" y="1943434"/>
                  <a:ext cx="184412" cy="144355"/>
                </a:xfrm>
                <a:custGeom>
                  <a:avLst/>
                  <a:gdLst>
                    <a:gd name="connsiteX0" fmla="*/ 184935 w 184935"/>
                    <a:gd name="connsiteY0" fmla="*/ 0 h 144764"/>
                    <a:gd name="connsiteX1" fmla="*/ 184935 w 184935"/>
                    <a:gd name="connsiteY1" fmla="*/ 144764 h 144764"/>
                    <a:gd name="connsiteX2" fmla="*/ 0 w 184935"/>
                    <a:gd name="connsiteY2" fmla="*/ 31155 h 144764"/>
                    <a:gd name="connsiteX3" fmla="*/ 0 w 184935"/>
                    <a:gd name="connsiteY3" fmla="*/ 0 h 14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935" h="144764">
                      <a:moveTo>
                        <a:pt x="184935" y="0"/>
                      </a:moveTo>
                      <a:lnTo>
                        <a:pt x="184935" y="144764"/>
                      </a:lnTo>
                      <a:lnTo>
                        <a:pt x="0" y="311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A132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Freeform: Shape 27">
                  <a:extLst>
                    <a:ext uri="{FF2B5EF4-FFF2-40B4-BE49-F238E27FC236}">
                      <a16:creationId xmlns:a16="http://schemas.microsoft.com/office/drawing/2014/main" id="{CA30D15F-2C3B-2069-BA56-BB3A4835D515}"/>
                    </a:ext>
                  </a:extLst>
                </p:cNvPr>
                <p:cNvSpPr/>
                <p:nvPr/>
              </p:nvSpPr>
              <p:spPr>
                <a:xfrm rot="19706210">
                  <a:off x="2433854" y="1943434"/>
                  <a:ext cx="184412" cy="144355"/>
                </a:xfrm>
                <a:custGeom>
                  <a:avLst/>
                  <a:gdLst>
                    <a:gd name="connsiteX0" fmla="*/ 184935 w 184935"/>
                    <a:gd name="connsiteY0" fmla="*/ 0 h 144764"/>
                    <a:gd name="connsiteX1" fmla="*/ 184935 w 184935"/>
                    <a:gd name="connsiteY1" fmla="*/ 144764 h 144764"/>
                    <a:gd name="connsiteX2" fmla="*/ 0 w 184935"/>
                    <a:gd name="connsiteY2" fmla="*/ 31155 h 144764"/>
                    <a:gd name="connsiteX3" fmla="*/ 0 w 184935"/>
                    <a:gd name="connsiteY3" fmla="*/ 0 h 14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4935" h="144764">
                      <a:moveTo>
                        <a:pt x="184935" y="0"/>
                      </a:moveTo>
                      <a:lnTo>
                        <a:pt x="184935" y="144764"/>
                      </a:lnTo>
                      <a:lnTo>
                        <a:pt x="0" y="311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A132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Rectangle: Top Corners Rounded 28">
                  <a:extLst>
                    <a:ext uri="{FF2B5EF4-FFF2-40B4-BE49-F238E27FC236}">
                      <a16:creationId xmlns:a16="http://schemas.microsoft.com/office/drawing/2014/main" id="{679E38A5-F9CF-774E-ECA2-293F2EAB69E9}"/>
                    </a:ext>
                  </a:extLst>
                </p:cNvPr>
                <p:cNvSpPr/>
                <p:nvPr/>
              </p:nvSpPr>
              <p:spPr>
                <a:xfrm rot="10800000">
                  <a:off x="1372511" y="1902997"/>
                  <a:ext cx="1192094" cy="836323"/>
                </a:xfrm>
                <a:prstGeom prst="round2SameRect">
                  <a:avLst/>
                </a:prstGeom>
                <a:solidFill>
                  <a:schemeClr val="tx1"/>
                </a:solidFill>
                <a:ln>
                  <a:solidFill>
                    <a:srgbClr val="DCA52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77B61BEA-10C2-E60B-8788-EF7139639CE8}"/>
                </a:ext>
              </a:extLst>
            </p:cNvPr>
            <p:cNvSpPr txBox="1"/>
            <p:nvPr/>
          </p:nvSpPr>
          <p:spPr>
            <a:xfrm>
              <a:off x="5715640" y="1952515"/>
              <a:ext cx="691541" cy="5617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DCA523"/>
                  </a:solidFill>
                  <a:latin typeface="Raleway ExtraBold" pitchFamily="2" charset="0"/>
                </a:rPr>
                <a:t>06.</a:t>
              </a:r>
            </a:p>
          </p:txBody>
        </p:sp>
        <p:sp>
          <p:nvSpPr>
            <p:cNvPr id="39" name="TextBox 40">
              <a:extLst>
                <a:ext uri="{FF2B5EF4-FFF2-40B4-BE49-F238E27FC236}">
                  <a16:creationId xmlns:a16="http://schemas.microsoft.com/office/drawing/2014/main" id="{668189D0-5F5B-15F9-A01A-AC89C9C57FD0}"/>
                </a:ext>
              </a:extLst>
            </p:cNvPr>
            <p:cNvSpPr txBox="1"/>
            <p:nvPr/>
          </p:nvSpPr>
          <p:spPr>
            <a:xfrm>
              <a:off x="4644096" y="2903629"/>
              <a:ext cx="2902160" cy="10496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000" b="1" dirty="0">
                  <a:solidFill>
                    <a:srgbClr val="DCA523"/>
                  </a:solidFill>
                  <a:latin typeface="Raleway" pitchFamily="2" charset="0"/>
                </a:rPr>
                <a:t>Item-Based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solidFill>
                    <a:schemeClr val="bg1"/>
                  </a:solidFill>
                  <a:latin typeface="Raleway" pitchFamily="2" charset="0"/>
                </a:rPr>
                <a:t>Computes movie similarity but very slow</a:t>
              </a:r>
            </a:p>
          </p:txBody>
        </p:sp>
      </p:grpSp>
      <p:sp>
        <p:nvSpPr>
          <p:cNvPr id="88" name="Holder 5">
            <a:extLst>
              <a:ext uri="{FF2B5EF4-FFF2-40B4-BE49-F238E27FC236}">
                <a16:creationId xmlns:a16="http://schemas.microsoft.com/office/drawing/2014/main" id="{8755A046-1D05-F456-8251-CC04E49A7E54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72190" y="6529133"/>
            <a:ext cx="31877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25" dirty="0"/>
              <a:t>P</a:t>
            </a:r>
            <a:r>
              <a:rPr spc="5" dirty="0"/>
              <a:t>a</a:t>
            </a:r>
            <a:r>
              <a:rPr spc="-5" dirty="0"/>
              <a:t>ge</a:t>
            </a:r>
          </a:p>
        </p:txBody>
      </p:sp>
      <p:sp>
        <p:nvSpPr>
          <p:cNvPr id="89" name="Holder 6">
            <a:extLst>
              <a:ext uri="{FF2B5EF4-FFF2-40B4-BE49-F238E27FC236}">
                <a16:creationId xmlns:a16="http://schemas.microsoft.com/office/drawing/2014/main" id="{3787D22C-2BCA-CA8E-2DC2-5654D862D41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696445" y="6498568"/>
            <a:ext cx="219709" cy="19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D9D9D9"/>
                </a:solidFill>
                <a:latin typeface="Microsoft JhengHei"/>
                <a:cs typeface="Microsoft JhengHei"/>
              </a:defRPr>
            </a:lvl1pPr>
          </a:lstStyle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5" dirty="0"/>
              <a:t>17</a:t>
            </a:fld>
            <a:endParaRPr spc="-15" dirty="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870FABA1-132D-CF5B-88DF-93F272B8C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$\rightarrow$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65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2372</Words>
  <Application>Microsoft Office PowerPoint</Application>
  <PresentationFormat>Breitbild</PresentationFormat>
  <Paragraphs>282</Paragraphs>
  <Slides>17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17</vt:i4>
      </vt:variant>
    </vt:vector>
  </HeadingPairs>
  <TitlesOfParts>
    <vt:vector size="32" baseType="lpstr">
      <vt:lpstr>Raleway</vt:lpstr>
      <vt:lpstr>Poppins Light</vt:lpstr>
      <vt:lpstr>Tahoma</vt:lpstr>
      <vt:lpstr>Aptos</vt:lpstr>
      <vt:lpstr>Calibri</vt:lpstr>
      <vt:lpstr>Montserrat</vt:lpstr>
      <vt:lpstr>Raleway ExtraBold</vt:lpstr>
      <vt:lpstr>Microsoft JhengHei</vt:lpstr>
      <vt:lpstr>Poppins</vt:lpstr>
      <vt:lpstr>Aptos Display</vt:lpstr>
      <vt:lpstr>Cambria Math</vt:lpstr>
      <vt:lpstr>Arial</vt:lpstr>
      <vt:lpstr>Google Sans Text</vt:lpstr>
      <vt:lpstr>Office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Licensing Recommendations for Watch It</dc:title>
  <dc:creator>Evgeniya Englert</dc:creator>
  <cp:lastModifiedBy>Evgeniya Englert</cp:lastModifiedBy>
  <cp:revision>25</cp:revision>
  <dcterms:created xsi:type="dcterms:W3CDTF">2025-06-28T06:45:23Z</dcterms:created>
  <dcterms:modified xsi:type="dcterms:W3CDTF">2026-02-02T21:41:07Z</dcterms:modified>
</cp:coreProperties>
</file>